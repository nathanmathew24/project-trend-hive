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rF/QNpDEZZRiDgf0eEKv/tp5R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" type="body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623887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" type="body"/>
          </p:nvPr>
        </p:nvSpPr>
        <p:spPr>
          <a:xfrm>
            <a:off x="623887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6286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6291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2" name="Google Shape;42;p15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8" name="Google Shape;58;p1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9" name="Google Shape;5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6" name="Google Shape;66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" type="body"/>
          </p:nvPr>
        </p:nvSpPr>
        <p:spPr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28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21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3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21.png"/><Relationship Id="rId13" Type="http://schemas.openxmlformats.org/officeDocument/2006/relationships/image" Target="../media/image3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30.png"/><Relationship Id="rId5" Type="http://schemas.openxmlformats.org/officeDocument/2006/relationships/image" Target="../media/image24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85" name="Google Shape;85;p1"/>
          <p:cNvPicPr preferRelativeResize="0"/>
          <p:nvPr/>
        </p:nvPicPr>
        <p:blipFill rotWithShape="1">
          <a:blip r:embed="rId3">
            <a:alphaModFix/>
          </a:blip>
          <a:srcRect b="461" l="0" r="0" t="0"/>
          <a:stretch/>
        </p:blipFill>
        <p:spPr>
          <a:xfrm>
            <a:off x="20" y="961"/>
            <a:ext cx="9143980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2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2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2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2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2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2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2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2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2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2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2"/>
          <p:cNvCxnSpPr/>
          <p:nvPr/>
        </p:nvCxnSpPr>
        <p:spPr>
          <a:xfrm>
            <a:off x="640080" y="292608"/>
            <a:ext cx="365760" cy="365760"/>
          </a:xfrm>
          <a:prstGeom prst="straightConnector1">
            <a:avLst/>
          </a:prstGeom>
          <a:solidFill>
            <a:srgbClr val="3B82F6">
              <a:alpha val="25098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29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/>
          <p:nvPr/>
        </p:nvSpPr>
        <p:spPr>
          <a:xfrm>
            <a:off x="1097280" y="274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Size &amp;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097280" y="5669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Dubai café market analysis and SME challenges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20427" y="2288489"/>
            <a:ext cx="1257295" cy="187448"/>
          </a:xfrm>
          <a:prstGeom prst="rect">
            <a:avLst/>
          </a:prstGeom>
          <a:noFill/>
          <a:ln cap="flat" cmpd="sng" w="12700">
            <a:solidFill>
              <a:srgbClr val="22C55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Market Size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502921" y="2552611"/>
            <a:ext cx="1508754" cy="38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$3.2B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02921" y="2991523"/>
            <a:ext cx="1508754" cy="187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Industry value  ↑ 8%</a:t>
            </a:r>
            <a:endParaRPr/>
          </a:p>
        </p:txBody>
      </p:sp>
      <p:cxnSp>
        <p:nvCxnSpPr>
          <p:cNvPr id="112" name="Google Shape;112;p2"/>
          <p:cNvCxnSpPr/>
          <p:nvPr/>
        </p:nvCxnSpPr>
        <p:spPr>
          <a:xfrm flipH="1">
            <a:off x="2212067" y="2260004"/>
            <a:ext cx="4908" cy="877597"/>
          </a:xfrm>
          <a:prstGeom prst="straightConnector1">
            <a:avLst/>
          </a:prstGeom>
          <a:solidFill>
            <a:srgbClr val="3B82F6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13" name="Google Shape;1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1" y="2333155"/>
            <a:ext cx="238570" cy="2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/>
          <p:nvPr/>
        </p:nvSpPr>
        <p:spPr>
          <a:xfrm>
            <a:off x="2897866" y="2360589"/>
            <a:ext cx="1257295" cy="187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Cafés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2514601" y="2552611"/>
            <a:ext cx="1508754" cy="38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4,800+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2514601" y="2991523"/>
            <a:ext cx="1508754" cy="187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Highly saturated  ↑ 5%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594369" y="3316983"/>
            <a:ext cx="2423150" cy="205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SMEs Struggle With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928" y="3675887"/>
            <a:ext cx="152312" cy="15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/>
          <p:nvPr/>
        </p:nvSpPr>
        <p:spPr>
          <a:xfrm>
            <a:off x="822960" y="3666743"/>
            <a:ext cx="2423150" cy="192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access to advanced analytics</a:t>
            </a:r>
            <a:endParaRPr/>
          </a:p>
        </p:txBody>
      </p:sp>
      <p:pic>
        <p:nvPicPr>
          <p:cNvPr descr="preencoded.png" id="120" name="Google Shape;12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928" y="4059935"/>
            <a:ext cx="152312" cy="15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/>
          <p:nvPr/>
        </p:nvSpPr>
        <p:spPr>
          <a:xfrm>
            <a:off x="822960" y="4050791"/>
            <a:ext cx="2423150" cy="192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Fragmented data (reviews, tourism, competitors)</a:t>
            </a:r>
            <a:endParaRPr/>
          </a:p>
        </p:txBody>
      </p:sp>
      <p:pic>
        <p:nvPicPr>
          <p:cNvPr descr="preencoded.png" id="122" name="Google Shape;12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928" y="4443983"/>
            <a:ext cx="152312" cy="15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/>
          <p:nvPr/>
        </p:nvSpPr>
        <p:spPr>
          <a:xfrm>
            <a:off x="822960" y="4434839"/>
            <a:ext cx="2423150" cy="192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Reliance on intuition instead of data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5074920" y="960119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⬡  Data Integration Challenges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66360" y="1389887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/>
          <p:nvPr/>
        </p:nvSpPr>
        <p:spPr>
          <a:xfrm>
            <a:off x="5513832" y="1325879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Multi-source data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5513832" y="1517903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Google Places, Trends, geospatial, rent benchmarks</a:t>
            </a:r>
            <a:endParaRPr/>
          </a:p>
        </p:txBody>
      </p:sp>
      <p:pic>
        <p:nvPicPr>
          <p:cNvPr descr="preencoded.png" id="128" name="Google Shape;12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66360" y="192023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/>
          <p:nvPr/>
        </p:nvSpPr>
        <p:spPr>
          <a:xfrm>
            <a:off x="5513832" y="1856231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analysis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513832" y="2048255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Growth classification &amp; demand forecasting</a:t>
            </a:r>
            <a:endParaRPr/>
          </a:p>
        </p:txBody>
      </p:sp>
      <p:pic>
        <p:nvPicPr>
          <p:cNvPr descr="preencoded.png" id="131" name="Google Shape;131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66360" y="2450591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"/>
          <p:cNvSpPr/>
          <p:nvPr/>
        </p:nvSpPr>
        <p:spPr>
          <a:xfrm>
            <a:off x="5513832" y="2386583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Smart insights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5513832" y="2578607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AI-generated investor narratives</a:t>
            </a:r>
            <a:endParaRPr/>
          </a:p>
        </p:txBody>
      </p:sp>
      <p:pic>
        <p:nvPicPr>
          <p:cNvPr descr="preencoded.png" id="134" name="Google Shape;134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29200" y="3300983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/>
          <p:nvPr/>
        </p:nvSpPr>
        <p:spPr>
          <a:xfrm>
            <a:off x="5349240" y="3291839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5029200" y="3602735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system that combines multi-source data + AI + explainability for café-specific decisions.</a:t>
            </a:r>
            <a:endParaRPr/>
          </a:p>
        </p:txBody>
      </p:sp>
      <p:pic>
        <p:nvPicPr>
          <p:cNvPr descr="preencoded.png" id="137" name="Google Shape;137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40880" y="3300983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"/>
          <p:cNvSpPr/>
          <p:nvPr/>
        </p:nvSpPr>
        <p:spPr>
          <a:xfrm>
            <a:off x="7360920" y="3291839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Opportunity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7040880" y="3602735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Deliver data-driven, explainable intelligence to reduce investment risk in a crowded market.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461161" y="934561"/>
            <a:ext cx="4248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Starting or expanding a café requires understanding: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 demand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Competitor positioning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Consumer preferences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is not a single unified system to combine and interpret this data and requires </a:t>
            </a:r>
            <a:r>
              <a:rPr b="1"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manual analysis across hundreds of data points. As a result: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Entrepreneurs struggle to </a:t>
            </a:r>
            <a:r>
              <a:rPr b="1"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the right location and strategy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Businesses lack clarity on their </a:t>
            </a:r>
            <a:r>
              <a:rPr b="1"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competitive positioning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Decisions are often </a:t>
            </a:r>
            <a:r>
              <a:rPr b="1"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slow, inefficient, and intuition-based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3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3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3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3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3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3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3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3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3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3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3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3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3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3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3"/>
          <p:cNvCxnSpPr/>
          <p:nvPr/>
        </p:nvCxnSpPr>
        <p:spPr>
          <a:xfrm>
            <a:off x="640080" y="292608"/>
            <a:ext cx="365760" cy="365760"/>
          </a:xfrm>
          <a:prstGeom prst="straightConnector1">
            <a:avLst/>
          </a:prstGeom>
          <a:solidFill>
            <a:srgbClr val="3B82F6">
              <a:alpha val="25098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61" name="Google Shape;1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29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"/>
          <p:cNvSpPr/>
          <p:nvPr/>
        </p:nvSpPr>
        <p:spPr>
          <a:xfrm>
            <a:off x="1097280" y="274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TrendHive Product &amp; Data Scale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1097280" y="5669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AI-driven market intelligence platform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768096" y="996695"/>
            <a:ext cx="3291840" cy="274320"/>
          </a:xfrm>
          <a:prstGeom prst="rect">
            <a:avLst/>
          </a:prstGeom>
          <a:noFill/>
          <a:ln cap="flat" cmpd="sng" w="12700">
            <a:solidFill>
              <a:srgbClr val="22C55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AI-Driven Market Intelligence Platform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768096" y="129844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Built on comprehensive data analysis of 345 cafés across 24 Dubai areas, processing 563,534 real customer reviews to deliver actionable insights.</a:t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800100" y="1929384"/>
            <a:ext cx="1417320" cy="201168"/>
          </a:xfrm>
          <a:prstGeom prst="rect">
            <a:avLst/>
          </a:prstGeom>
          <a:noFill/>
          <a:ln cap="flat" cmpd="sng" w="12700">
            <a:solidFill>
              <a:srgbClr val="3B82F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 Google Places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2898648" y="1920240"/>
            <a:ext cx="1417320" cy="201168"/>
          </a:xfrm>
          <a:prstGeom prst="rect">
            <a:avLst/>
          </a:prstGeom>
          <a:noFill/>
          <a:ln cap="flat" cmpd="sng" w="12700">
            <a:solidFill>
              <a:srgbClr val="3B82F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 Google Trends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800100" y="2245516"/>
            <a:ext cx="1417320" cy="201168"/>
          </a:xfrm>
          <a:prstGeom prst="rect">
            <a:avLst/>
          </a:prstGeom>
          <a:noFill/>
          <a:ln cap="flat" cmpd="sng" w="12700">
            <a:solidFill>
              <a:srgbClr val="3B82F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 Geospatial Data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2898648" y="2267712"/>
            <a:ext cx="1417320" cy="201168"/>
          </a:xfrm>
          <a:prstGeom prst="rect">
            <a:avLst/>
          </a:prstGeom>
          <a:noFill/>
          <a:ln cap="flat" cmpd="sng" w="12700">
            <a:solidFill>
              <a:srgbClr val="3B82F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 Rent Benchmarks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761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/>
          <p:nvPr/>
        </p:nvSpPr>
        <p:spPr>
          <a:xfrm>
            <a:off x="1051560" y="27432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Cafés Analyzed</a:t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731520" y="299923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345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731520" y="34107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Across 24 Dubai areas</a:t>
            </a:r>
            <a:endParaRPr/>
          </a:p>
        </p:txBody>
      </p:sp>
      <p:pic>
        <p:nvPicPr>
          <p:cNvPr descr="preencoded.png" id="174" name="Google Shape;17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0" y="2761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"/>
          <p:cNvSpPr/>
          <p:nvPr/>
        </p:nvSpPr>
        <p:spPr>
          <a:xfrm>
            <a:off x="3063240" y="27432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Reviews Processed</a:t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2743200" y="299923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563,534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2743200" y="34107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 customer reviews</a:t>
            </a:r>
            <a:endParaRPr/>
          </a:p>
        </p:txBody>
      </p:sp>
      <p:pic>
        <p:nvPicPr>
          <p:cNvPr descr="preencoded.png" id="178" name="Google Shape;17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" y="3904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"/>
          <p:cNvSpPr/>
          <p:nvPr/>
        </p:nvSpPr>
        <p:spPr>
          <a:xfrm>
            <a:off x="1051560" y="38862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Coverage Areas</a:t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731520" y="414223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731520" y="45537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Dubai districts</a:t>
            </a:r>
            <a:endParaRPr/>
          </a:p>
        </p:txBody>
      </p:sp>
      <p:pic>
        <p:nvPicPr>
          <p:cNvPr descr="preencoded.png" id="182" name="Google Shape;18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43200" y="3904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"/>
          <p:cNvSpPr/>
          <p:nvPr/>
        </p:nvSpPr>
        <p:spPr>
          <a:xfrm>
            <a:off x="3017520" y="3927387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API Endpoints</a:t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2743200" y="414223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11+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2743200" y="45537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Powering the system</a:t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4892040" y="9875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System Capabilities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94960" y="14081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"/>
          <p:cNvSpPr/>
          <p:nvPr/>
        </p:nvSpPr>
        <p:spPr>
          <a:xfrm>
            <a:off x="4937760" y="17373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 Classification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4937760" y="201168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Calibri"/>
              <a:buNone/>
            </a:pPr>
            <a:r>
              <a:rPr lang="en-US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GROWING / STABLE / DECLINING</a:t>
            </a:r>
            <a:endParaRPr/>
          </a:p>
        </p:txBody>
      </p:sp>
      <p:pic>
        <p:nvPicPr>
          <p:cNvPr descr="preencoded.png" id="190" name="Google Shape;190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48272" y="14081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"/>
          <p:cNvSpPr/>
          <p:nvPr/>
        </p:nvSpPr>
        <p:spPr>
          <a:xfrm>
            <a:off x="6291072" y="17373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Demand Forecasting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6291072" y="201168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Calibri"/>
              <a:buNone/>
            </a:pPr>
            <a:r>
              <a:rPr lang="en-US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6-month</a:t>
            </a:r>
            <a:r>
              <a:rPr lang="en-US" sz="7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horizon</a:t>
            </a:r>
            <a:endParaRPr/>
          </a:p>
        </p:txBody>
      </p:sp>
      <p:pic>
        <p:nvPicPr>
          <p:cNvPr descr="preencoded.png" id="193" name="Google Shape;193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01584" y="14081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"/>
          <p:cNvSpPr/>
          <p:nvPr/>
        </p:nvSpPr>
        <p:spPr>
          <a:xfrm>
            <a:off x="7644384" y="17373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Insights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7644384" y="201168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Calibri"/>
              <a:buNone/>
            </a:pPr>
            <a:r>
              <a:rPr lang="en-US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Investor narratives</a:t>
            </a:r>
            <a:endParaRPr/>
          </a:p>
        </p:txBody>
      </p:sp>
      <p:pic>
        <p:nvPicPr>
          <p:cNvPr descr="preencoded.png" id="196" name="Google Shape;196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46320" y="27706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"/>
          <p:cNvSpPr/>
          <p:nvPr/>
        </p:nvSpPr>
        <p:spPr>
          <a:xfrm>
            <a:off x="5166360" y="27614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at Scale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4846320" y="309067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 AI-generated narratives (24 areas × 5 investor profiles) with real-time monitoring and actionable insights.</a:t>
            </a: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4892040" y="371246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4892040" y="41513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narratives</a:t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6190488" y="371246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6190488" y="41513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Areas covered</a:t>
            </a: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7488936" y="371246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7488936" y="41513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Investor profiles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4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4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4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4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4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4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4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4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4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4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4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4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4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4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4"/>
          <p:cNvCxnSpPr/>
          <p:nvPr/>
        </p:nvCxnSpPr>
        <p:spPr>
          <a:xfrm>
            <a:off x="640080" y="292608"/>
            <a:ext cx="365760" cy="365760"/>
          </a:xfrm>
          <a:prstGeom prst="straightConnector1">
            <a:avLst/>
          </a:prstGeom>
          <a:solidFill>
            <a:srgbClr val="3B82F6">
              <a:alpha val="25098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25" name="Google Shape;2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29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"/>
          <p:cNvSpPr/>
          <p:nvPr/>
        </p:nvSpPr>
        <p:spPr>
          <a:xfrm>
            <a:off x="1097280" y="274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Quantified Decision Engine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1097280" y="5669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 metrics for market intelligence and location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6858000" y="34747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validated 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6858000" y="5669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94% accuracy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4"/>
          <p:cNvCxnSpPr/>
          <p:nvPr/>
        </p:nvCxnSpPr>
        <p:spPr>
          <a:xfrm>
            <a:off x="667510" y="914399"/>
            <a:ext cx="9145" cy="1400400"/>
          </a:xfrm>
          <a:prstGeom prst="straightConnector1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31" name="Google Shape;2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096" y="1005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"/>
          <p:cNvSpPr/>
          <p:nvPr/>
        </p:nvSpPr>
        <p:spPr>
          <a:xfrm>
            <a:off x="1115568" y="10058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Popularity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804672" y="13716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Rating  ×  log(Review Count)  →  True demand strength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4" name="Google Shape;23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808" y="1828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"/>
          <p:cNvSpPr/>
          <p:nvPr/>
        </p:nvSpPr>
        <p:spPr>
          <a:xfrm>
            <a:off x="987552" y="181051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Captures true demand strength by weighting rating with review volume</a:t>
            </a:r>
            <a:endParaRPr/>
          </a:p>
        </p:txBody>
      </p:sp>
      <p:cxnSp>
        <p:nvCxnSpPr>
          <p:cNvPr id="236" name="Google Shape;236;p4"/>
          <p:cNvCxnSpPr/>
          <p:nvPr/>
        </p:nvCxnSpPr>
        <p:spPr>
          <a:xfrm flipH="1">
            <a:off x="4919460" y="914399"/>
            <a:ext cx="2" cy="1400400"/>
          </a:xfrm>
          <a:prstGeom prst="straightConnector1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37" name="Google Shape;23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0056" y="1005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"/>
          <p:cNvSpPr/>
          <p:nvPr/>
        </p:nvSpPr>
        <p:spPr>
          <a:xfrm>
            <a:off x="5367528" y="10058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Competition Index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5056632" y="13716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Café Density  +  Market Share  →  94% accuracy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1768" y="1828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"/>
          <p:cNvSpPr/>
          <p:nvPr/>
        </p:nvSpPr>
        <p:spPr>
          <a:xfrm>
            <a:off x="5239512" y="181051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Based on café density analysis, validated with 94% accuracy</a:t>
            </a:r>
            <a:endParaRPr/>
          </a:p>
        </p:txBody>
      </p:sp>
      <p:cxnSp>
        <p:nvCxnSpPr>
          <p:cNvPr id="242" name="Google Shape;242;p4"/>
          <p:cNvCxnSpPr/>
          <p:nvPr/>
        </p:nvCxnSpPr>
        <p:spPr>
          <a:xfrm>
            <a:off x="685800" y="2670047"/>
            <a:ext cx="0" cy="1444737"/>
          </a:xfrm>
          <a:prstGeom prst="straightConnector1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43" name="Google Shape;24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096" y="2697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"/>
          <p:cNvSpPr/>
          <p:nvPr/>
        </p:nvSpPr>
        <p:spPr>
          <a:xfrm>
            <a:off x="1115568" y="26974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Area Demand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804672" y="30632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Popularity  −  Competition  +  Tourism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808" y="35204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"/>
          <p:cNvSpPr/>
          <p:nvPr/>
        </p:nvSpPr>
        <p:spPr>
          <a:xfrm>
            <a:off x="987552" y="350215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Identifies high-return locations by combining multiple factors</a:t>
            </a:r>
            <a:endParaRPr/>
          </a:p>
        </p:txBody>
      </p:sp>
      <p:cxnSp>
        <p:nvCxnSpPr>
          <p:cNvPr id="248" name="Google Shape;248;p4"/>
          <p:cNvCxnSpPr/>
          <p:nvPr/>
        </p:nvCxnSpPr>
        <p:spPr>
          <a:xfrm>
            <a:off x="4901184" y="2606038"/>
            <a:ext cx="9144" cy="1524745"/>
          </a:xfrm>
          <a:prstGeom prst="straightConnector1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49" name="Google Shape;24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0056" y="2697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"/>
          <p:cNvSpPr/>
          <p:nvPr/>
        </p:nvSpPr>
        <p:spPr>
          <a:xfrm>
            <a:off x="5367528" y="26974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Trend Growth Rate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5056632" y="30632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Search Trends  ×  Weekly Data Points  →  260/week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1768" y="35204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"/>
          <p:cNvSpPr/>
          <p:nvPr/>
        </p:nvSpPr>
        <p:spPr>
          <a:xfrm>
            <a:off x="5239512" y="350215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Based on search trends with ~260 weekly data points per keyword</a:t>
            </a:r>
            <a:endParaRPr/>
          </a:p>
        </p:txBody>
      </p:sp>
      <p:pic>
        <p:nvPicPr>
          <p:cNvPr descr="preencoded.png" id="254" name="Google Shape;25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9808" y="44256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"/>
          <p:cNvSpPr/>
          <p:nvPr/>
        </p:nvSpPr>
        <p:spPr>
          <a:xfrm>
            <a:off x="1042416" y="441655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Validated Proxies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16352" y="44531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"/>
          <p:cNvSpPr/>
          <p:nvPr/>
        </p:nvSpPr>
        <p:spPr>
          <a:xfrm>
            <a:off x="3127248" y="43891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Footfall score correlation</a:t>
            </a: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3127248" y="459943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r = 0.82 with real tourism 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16752" y="44531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"/>
          <p:cNvSpPr/>
          <p:nvPr/>
        </p:nvSpPr>
        <p:spPr>
          <a:xfrm>
            <a:off x="6327648" y="43891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Rent estimation error</a:t>
            </a:r>
            <a:endParaRPr/>
          </a:p>
        </p:txBody>
      </p:sp>
      <p:sp>
        <p:nvSpPr>
          <p:cNvPr id="261" name="Google Shape;261;p4"/>
          <p:cNvSpPr/>
          <p:nvPr/>
        </p:nvSpPr>
        <p:spPr>
          <a:xfrm>
            <a:off x="6327648" y="459943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~AED 12/sqm MAE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4"/>
          <p:cNvCxnSpPr/>
          <p:nvPr/>
        </p:nvCxnSpPr>
        <p:spPr>
          <a:xfrm flipH="1" rot="5400000">
            <a:off x="2623980" y="365422"/>
            <a:ext cx="13717" cy="3882305"/>
          </a:xfrm>
          <a:prstGeom prst="straightConnector1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4"/>
          <p:cNvCxnSpPr/>
          <p:nvPr/>
        </p:nvCxnSpPr>
        <p:spPr>
          <a:xfrm flipH="1" rot="5400000">
            <a:off x="6853754" y="389649"/>
            <a:ext cx="13717" cy="3882305"/>
          </a:xfrm>
          <a:prstGeom prst="straightConnector1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4"/>
          <p:cNvCxnSpPr/>
          <p:nvPr/>
        </p:nvCxnSpPr>
        <p:spPr>
          <a:xfrm flipH="1" rot="5400000">
            <a:off x="2620094" y="2175917"/>
            <a:ext cx="13717" cy="3882305"/>
          </a:xfrm>
          <a:prstGeom prst="straightConnector1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4"/>
          <p:cNvCxnSpPr/>
          <p:nvPr/>
        </p:nvCxnSpPr>
        <p:spPr>
          <a:xfrm flipH="1" rot="5400000">
            <a:off x="6821085" y="2191917"/>
            <a:ext cx="13717" cy="3882305"/>
          </a:xfrm>
          <a:prstGeom prst="straightConnector1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1" name="Google Shape;271;p5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5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5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5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5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5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5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5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5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5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5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5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5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5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5"/>
          <p:cNvCxnSpPr/>
          <p:nvPr/>
        </p:nvCxnSpPr>
        <p:spPr>
          <a:xfrm>
            <a:off x="640080" y="292608"/>
            <a:ext cx="365760" cy="365760"/>
          </a:xfrm>
          <a:prstGeom prst="straightConnector1">
            <a:avLst/>
          </a:prstGeom>
          <a:solidFill>
            <a:srgbClr val="3B82F6">
              <a:alpha val="25098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86" name="Google Shape;2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29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5"/>
          <p:cNvSpPr/>
          <p:nvPr/>
        </p:nvSpPr>
        <p:spPr>
          <a:xfrm>
            <a:off x="1097280" y="2743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Models &amp; Measured Performance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1097280" y="5669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Growth classification and demand forecasting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996696" y="100583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Growth Classification (Random Forest)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1078992" y="128015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768096" y="159105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87%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768096" y="199339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768096" y="2176272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↑ 2.3%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2029968" y="159105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0.87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2029968" y="199339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Weighted F1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2029968" y="2176272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↑ 0.05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3291840" y="159105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87.2%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3291840" y="199339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Cross-validation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3291840" y="2176272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↑ 1.8%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822960" y="246888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/>
          </a:p>
        </p:txBody>
      </p:sp>
      <p:sp>
        <p:nvSpPr>
          <p:cNvPr id="301" name="Google Shape;301;p5"/>
          <p:cNvSpPr/>
          <p:nvPr/>
        </p:nvSpPr>
        <p:spPr>
          <a:xfrm>
            <a:off x="3474720" y="245973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81.2%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822960" y="286207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/>
          </a:p>
        </p:txBody>
      </p:sp>
      <p:sp>
        <p:nvSpPr>
          <p:cNvPr id="303" name="Google Shape;303;p5"/>
          <p:cNvSpPr/>
          <p:nvPr/>
        </p:nvSpPr>
        <p:spPr>
          <a:xfrm>
            <a:off x="3474720" y="285292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0.68 F1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768096" y="327355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 Outperforms baseline models with 5.8% higher accuracy</a:t>
            </a:r>
            <a:endParaRPr/>
          </a:p>
        </p:txBody>
      </p:sp>
      <p:cxnSp>
        <p:nvCxnSpPr>
          <p:cNvPr id="305" name="Google Shape;305;p5"/>
          <p:cNvCxnSpPr/>
          <p:nvPr/>
        </p:nvCxnSpPr>
        <p:spPr>
          <a:xfrm>
            <a:off x="4754880" y="914400"/>
            <a:ext cx="9144" cy="2752344"/>
          </a:xfrm>
          <a:prstGeom prst="straightConnector1">
            <a:avLst/>
          </a:prstGeom>
          <a:solidFill>
            <a:srgbClr val="3B82F6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06" name="Google Shape;3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2896" y="10058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"/>
          <p:cNvSpPr/>
          <p:nvPr/>
        </p:nvSpPr>
        <p:spPr>
          <a:xfrm>
            <a:off x="5285232" y="98755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Demand Forecasting (Holt's Model)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5285232" y="128016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4882896" y="1591056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5.82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4882896" y="1993392"/>
            <a:ext cx="1261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4882896" y="2176272"/>
            <a:ext cx="1261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↓ 0.3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6208776" y="1591056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19.9%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6208776" y="1993392"/>
            <a:ext cx="1261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MAPE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6208776" y="2176272"/>
            <a:ext cx="1261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↓ 2.1%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7534656" y="1591056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7.2%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"/>
          <p:cNvSpPr/>
          <p:nvPr/>
        </p:nvSpPr>
        <p:spPr>
          <a:xfrm>
            <a:off x="7534656" y="1993392"/>
            <a:ext cx="1261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Case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5"/>
          <p:cNvSpPr/>
          <p:nvPr/>
        </p:nvSpPr>
        <p:spPr>
          <a:xfrm>
            <a:off x="7534656" y="2176272"/>
            <a:ext cx="1261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Café near me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4974336" y="2514600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"Café near me" → 7.2% MAPE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"/>
          <p:cNvSpPr/>
          <p:nvPr/>
        </p:nvSpPr>
        <p:spPr>
          <a:xfrm>
            <a:off x="7315200" y="25146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Best performing keyword</a:t>
            </a:r>
            <a:endParaRPr/>
          </a:p>
        </p:txBody>
      </p:sp>
      <p:sp>
        <p:nvSpPr>
          <p:cNvPr id="320" name="Google Shape;320;p5"/>
          <p:cNvSpPr/>
          <p:nvPr/>
        </p:nvSpPr>
        <p:spPr>
          <a:xfrm>
            <a:off x="4974336" y="277977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6-month forecast with 92% confidence interval</a:t>
            </a:r>
            <a:endParaRPr/>
          </a:p>
        </p:txBody>
      </p:sp>
      <p:sp>
        <p:nvSpPr>
          <p:cNvPr id="321" name="Google Shape;321;p5"/>
          <p:cNvSpPr/>
          <p:nvPr/>
        </p:nvSpPr>
        <p:spPr>
          <a:xfrm>
            <a:off x="777240" y="38221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Key Insight Drivers (SHAP Analysis)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2" name="Google Shape;32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36" y="4206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5"/>
          <p:cNvSpPr/>
          <p:nvPr/>
        </p:nvSpPr>
        <p:spPr>
          <a:xfrm>
            <a:off x="1188720" y="418795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Sentiment Mean</a:t>
            </a:r>
            <a:endParaRPr/>
          </a:p>
        </p:txBody>
      </p:sp>
      <p:sp>
        <p:nvSpPr>
          <p:cNvPr id="324" name="Google Shape;324;p5"/>
          <p:cNvSpPr/>
          <p:nvPr/>
        </p:nvSpPr>
        <p:spPr>
          <a:xfrm>
            <a:off x="1188720" y="43891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0.222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5" name="Google Shape;32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75888" y="4206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"/>
          <p:cNvSpPr/>
          <p:nvPr/>
        </p:nvSpPr>
        <p:spPr>
          <a:xfrm>
            <a:off x="4005072" y="418795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Positive Review Ratio</a:t>
            </a:r>
            <a:endParaRPr/>
          </a:p>
        </p:txBody>
      </p:sp>
      <p:sp>
        <p:nvSpPr>
          <p:cNvPr id="327" name="Google Shape;327;p5"/>
          <p:cNvSpPr/>
          <p:nvPr/>
        </p:nvSpPr>
        <p:spPr>
          <a:xfrm>
            <a:off x="4005072" y="43891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0.159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92240" y="4206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5"/>
          <p:cNvSpPr/>
          <p:nvPr/>
        </p:nvSpPr>
        <p:spPr>
          <a:xfrm>
            <a:off x="6821424" y="418795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Review Volume</a:t>
            </a:r>
            <a:endParaRPr/>
          </a:p>
        </p:txBody>
      </p:sp>
      <p:sp>
        <p:nvSpPr>
          <p:cNvPr id="330" name="Google Shape;330;p5"/>
          <p:cNvSpPr/>
          <p:nvPr/>
        </p:nvSpPr>
        <p:spPr>
          <a:xfrm>
            <a:off x="6821424" y="43891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0.140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800101" y="1531619"/>
            <a:ext cx="1142997" cy="84124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2075691" y="1536191"/>
            <a:ext cx="1142997" cy="84124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3335346" y="1536190"/>
            <a:ext cx="1142997" cy="84124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06070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"/>
          <p:cNvSpPr/>
          <p:nvPr/>
        </p:nvSpPr>
        <p:spPr>
          <a:xfrm>
            <a:off x="4990407" y="1549907"/>
            <a:ext cx="1142997" cy="84124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6288027" y="1551431"/>
            <a:ext cx="1142997" cy="84124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7577331" y="1549922"/>
            <a:ext cx="1142997" cy="84124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"/>
          <p:cNvSpPr/>
          <p:nvPr/>
        </p:nvSpPr>
        <p:spPr>
          <a:xfrm>
            <a:off x="4715263" y="3273552"/>
            <a:ext cx="16001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Performance : 4.3/5 rating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4" name="Google Shape;344;p6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6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6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6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6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6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6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6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6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6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6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6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6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6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6"/>
          <p:cNvCxnSpPr/>
          <p:nvPr/>
        </p:nvCxnSpPr>
        <p:spPr>
          <a:xfrm>
            <a:off x="640080" y="292608"/>
            <a:ext cx="365760" cy="365760"/>
          </a:xfrm>
          <a:prstGeom prst="straightConnector1">
            <a:avLst/>
          </a:prstGeom>
          <a:solidFill>
            <a:srgbClr val="3B82F6">
              <a:alpha val="25098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59" name="Google Shape;3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29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6"/>
          <p:cNvSpPr/>
          <p:nvPr/>
        </p:nvSpPr>
        <p:spPr>
          <a:xfrm>
            <a:off x="1097280" y="274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Results, Impact &amp; Investor Value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1097280" y="5669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System validation, business impact, and competitive advantages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6"/>
          <p:cNvSpPr/>
          <p:nvPr/>
        </p:nvSpPr>
        <p:spPr>
          <a:xfrm>
            <a:off x="777240" y="9784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✓  System Validation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3" name="Google Shape;3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392" y="13624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"/>
          <p:cNvSpPr/>
          <p:nvPr/>
        </p:nvSpPr>
        <p:spPr>
          <a:xfrm>
            <a:off x="1133856" y="13441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Café managers rated explanations 4.3/5 for decision usefulness</a:t>
            </a:r>
            <a:endParaRPr/>
          </a:p>
        </p:txBody>
      </p:sp>
      <p:sp>
        <p:nvSpPr>
          <p:cNvPr id="365" name="Google Shape;365;p6"/>
          <p:cNvSpPr/>
          <p:nvPr/>
        </p:nvSpPr>
        <p:spPr>
          <a:xfrm>
            <a:off x="3621024" y="1344168"/>
            <a:ext cx="64922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4.3/5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6" name="Google Shape;36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" y="17647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6"/>
          <p:cNvSpPr/>
          <p:nvPr/>
        </p:nvSpPr>
        <p:spPr>
          <a:xfrm>
            <a:off x="1133856" y="174650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Narrative generation &lt;200ms latency (CPU)</a:t>
            </a:r>
            <a:endParaRPr/>
          </a:p>
        </p:txBody>
      </p:sp>
      <p:sp>
        <p:nvSpPr>
          <p:cNvPr id="368" name="Google Shape;368;p6"/>
          <p:cNvSpPr/>
          <p:nvPr/>
        </p:nvSpPr>
        <p:spPr>
          <a:xfrm>
            <a:off x="3621025" y="1746504"/>
            <a:ext cx="649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&lt;200ms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9" name="Google Shape;36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392" y="21671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6"/>
          <p:cNvSpPr/>
          <p:nvPr/>
        </p:nvSpPr>
        <p:spPr>
          <a:xfrm>
            <a:off x="1133856" y="2148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Template fallback &lt;50ms latency</a:t>
            </a:r>
            <a:endParaRPr/>
          </a:p>
        </p:txBody>
      </p:sp>
      <p:sp>
        <p:nvSpPr>
          <p:cNvPr id="371" name="Google Shape;371;p6"/>
          <p:cNvSpPr/>
          <p:nvPr/>
        </p:nvSpPr>
        <p:spPr>
          <a:xfrm>
            <a:off x="3621024" y="2148840"/>
            <a:ext cx="64922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&lt;50ms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6"/>
          <p:cNvSpPr/>
          <p:nvPr/>
        </p:nvSpPr>
        <p:spPr>
          <a:xfrm>
            <a:off x="4892040" y="9784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🎯  Business Impact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3" name="Google Shape;37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5192" y="14081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"/>
          <p:cNvSpPr/>
          <p:nvPr/>
        </p:nvSpPr>
        <p:spPr>
          <a:xfrm>
            <a:off x="5239512" y="135331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High-demand locations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5239512" y="156362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low-competition areas</a:t>
            </a:r>
            <a:endParaRPr/>
          </a:p>
        </p:txBody>
      </p:sp>
      <p:pic>
        <p:nvPicPr>
          <p:cNvPr descr="preencoded.png" id="376" name="Google Shape;37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31152" y="14081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6"/>
          <p:cNvSpPr/>
          <p:nvPr/>
        </p:nvSpPr>
        <p:spPr>
          <a:xfrm>
            <a:off x="7205472" y="135331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Emerging trends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"/>
          <p:cNvSpPr/>
          <p:nvPr/>
        </p:nvSpPr>
        <p:spPr>
          <a:xfrm>
            <a:off x="7205472" y="156362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Matcha, cold brew spotting</a:t>
            </a:r>
            <a:endParaRPr/>
          </a:p>
        </p:txBody>
      </p:sp>
      <p:pic>
        <p:nvPicPr>
          <p:cNvPr descr="preencoded.png" id="379" name="Google Shape;37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5192" y="20299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6"/>
          <p:cNvSpPr/>
          <p:nvPr/>
        </p:nvSpPr>
        <p:spPr>
          <a:xfrm>
            <a:off x="5239512" y="197510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Risk reduction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"/>
          <p:cNvSpPr/>
          <p:nvPr/>
        </p:nvSpPr>
        <p:spPr>
          <a:xfrm>
            <a:off x="5239512" y="218541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Site selection security</a:t>
            </a:r>
            <a:endParaRPr/>
          </a:p>
        </p:txBody>
      </p:sp>
      <p:pic>
        <p:nvPicPr>
          <p:cNvPr descr="preencoded.png" id="382" name="Google Shape;382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31152" y="20299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6"/>
          <p:cNvSpPr/>
          <p:nvPr/>
        </p:nvSpPr>
        <p:spPr>
          <a:xfrm>
            <a:off x="7205472" y="197510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Consultant independence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6"/>
          <p:cNvSpPr/>
          <p:nvPr/>
        </p:nvSpPr>
        <p:spPr>
          <a:xfrm>
            <a:off x="7205472" y="218541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Reduce dependence</a:t>
            </a:r>
            <a:endParaRPr/>
          </a:p>
        </p:txBody>
      </p:sp>
      <p:sp>
        <p:nvSpPr>
          <p:cNvPr id="385" name="Google Shape;385;p6"/>
          <p:cNvSpPr/>
          <p:nvPr/>
        </p:nvSpPr>
        <p:spPr>
          <a:xfrm>
            <a:off x="768096" y="287121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🏆  Competitive Advantage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8680" y="321868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6"/>
          <p:cNvSpPr/>
          <p:nvPr/>
        </p:nvSpPr>
        <p:spPr>
          <a:xfrm>
            <a:off x="1234440" y="318211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Explainable AI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1234440" y="338328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SHAP transparent decisions</a:t>
            </a:r>
            <a:endParaRPr/>
          </a:p>
        </p:txBody>
      </p:sp>
      <p:pic>
        <p:nvPicPr>
          <p:cNvPr descr="preencoded.png" id="389" name="Google Shape;389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85032" y="321868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"/>
          <p:cNvSpPr/>
          <p:nvPr/>
        </p:nvSpPr>
        <p:spPr>
          <a:xfrm>
            <a:off x="4050792" y="318211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Agent-based monitoring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6"/>
          <p:cNvSpPr/>
          <p:nvPr/>
        </p:nvSpPr>
        <p:spPr>
          <a:xfrm>
            <a:off x="4050792" y="338328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Real-time insights</a:t>
            </a:r>
            <a:endParaRPr/>
          </a:p>
        </p:txBody>
      </p:sp>
      <p:pic>
        <p:nvPicPr>
          <p:cNvPr descr="preencoded.png" id="392" name="Google Shape;392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01384" y="321868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"/>
          <p:cNvSpPr/>
          <p:nvPr/>
        </p:nvSpPr>
        <p:spPr>
          <a:xfrm>
            <a:off x="6867144" y="318211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Café-specific metrics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6"/>
          <p:cNvSpPr/>
          <p:nvPr/>
        </p:nvSpPr>
        <p:spPr>
          <a:xfrm>
            <a:off x="6867144" y="338328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Domain precision</a:t>
            </a:r>
            <a:endParaRPr/>
          </a:p>
        </p:txBody>
      </p:sp>
      <p:pic>
        <p:nvPicPr>
          <p:cNvPr descr="preencoded.png" id="395" name="Google Shape;395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7240" y="40416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6"/>
          <p:cNvSpPr/>
          <p:nvPr/>
        </p:nvSpPr>
        <p:spPr>
          <a:xfrm>
            <a:off x="1280160" y="3931920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TrendHive transforms 563K+ data points into actionable investment decisions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"/>
          <p:cNvSpPr/>
          <p:nvPr/>
        </p:nvSpPr>
        <p:spPr>
          <a:xfrm>
            <a:off x="1280160" y="4279392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Enables SMEs to compete in a $3.2B market with enterprise-level intelligence</a:t>
            </a:r>
            <a:endParaRPr/>
          </a:p>
        </p:txBody>
      </p:sp>
      <p:sp>
        <p:nvSpPr>
          <p:cNvPr id="398" name="Google Shape;398;p6"/>
          <p:cNvSpPr/>
          <p:nvPr/>
        </p:nvSpPr>
        <p:spPr>
          <a:xfrm>
            <a:off x="6720840" y="4023360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563K+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/>
          <p:nvPr/>
        </p:nvSpPr>
        <p:spPr>
          <a:xfrm>
            <a:off x="6720840" y="442569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Points</a:t>
            </a:r>
            <a:endParaRPr/>
          </a:p>
        </p:txBody>
      </p:sp>
      <p:sp>
        <p:nvSpPr>
          <p:cNvPr id="400" name="Google Shape;400;p6"/>
          <p:cNvSpPr/>
          <p:nvPr/>
        </p:nvSpPr>
        <p:spPr>
          <a:xfrm>
            <a:off x="7909560" y="4023360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$3.2B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/>
          <p:nvPr/>
        </p:nvSpPr>
        <p:spPr>
          <a:xfrm>
            <a:off x="7909560" y="442569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 Size</a:t>
            </a:r>
            <a:endParaRPr/>
          </a:p>
        </p:txBody>
      </p:sp>
      <p:cxnSp>
        <p:nvCxnSpPr>
          <p:cNvPr id="402" name="Google Shape;402;p6"/>
          <p:cNvCxnSpPr/>
          <p:nvPr/>
        </p:nvCxnSpPr>
        <p:spPr>
          <a:xfrm>
            <a:off x="4626864" y="914402"/>
            <a:ext cx="9144" cy="1920238"/>
          </a:xfrm>
          <a:prstGeom prst="straightConnector1">
            <a:avLst/>
          </a:prstGeom>
          <a:solidFill>
            <a:srgbClr val="3B82F6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3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" name="Google Shape;408;p7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7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7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7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7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7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7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7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7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7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7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7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p7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7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7"/>
          <p:cNvCxnSpPr/>
          <p:nvPr/>
        </p:nvCxnSpPr>
        <p:spPr>
          <a:xfrm>
            <a:off x="-914400" y="2286000"/>
            <a:ext cx="3657600" cy="3657600"/>
          </a:xfrm>
          <a:prstGeom prst="straightConnector1">
            <a:avLst/>
          </a:prstGeom>
          <a:solidFill>
            <a:srgbClr val="3B82F6">
              <a:alpha val="7058"/>
            </a:srgbClr>
          </a:solidFill>
          <a:ln cap="flat" cmpd="sng" w="12700">
            <a:solidFill>
              <a:srgbClr val="3B82F6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7"/>
          <p:cNvCxnSpPr/>
          <p:nvPr/>
        </p:nvCxnSpPr>
        <p:spPr>
          <a:xfrm>
            <a:off x="6858000" y="-914400"/>
            <a:ext cx="3657600" cy="3657600"/>
          </a:xfrm>
          <a:prstGeom prst="straightConnector1">
            <a:avLst/>
          </a:prstGeom>
          <a:solidFill>
            <a:srgbClr val="3B82F6">
              <a:alpha val="7058"/>
            </a:srgbClr>
          </a:solidFill>
          <a:ln cap="flat" cmpd="sng" w="12700">
            <a:solidFill>
              <a:srgbClr val="3B82F6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4" name="Google Shape;4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6463" y="1793876"/>
            <a:ext cx="6291071" cy="2630167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7"/>
          <p:cNvSpPr txBox="1"/>
          <p:nvPr/>
        </p:nvSpPr>
        <p:spPr>
          <a:xfrm>
            <a:off x="438917" y="293609"/>
            <a:ext cx="44988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AICCoNS 2026</a:t>
            </a:r>
            <a:endParaRPr/>
          </a:p>
        </p:txBody>
      </p:sp>
      <p:sp>
        <p:nvSpPr>
          <p:cNvPr id="426" name="Google Shape;426;p7"/>
          <p:cNvSpPr txBox="1"/>
          <p:nvPr/>
        </p:nvSpPr>
        <p:spPr>
          <a:xfrm>
            <a:off x="438917" y="969264"/>
            <a:ext cx="77632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proud to inform you that our paper on TrendHive, has been accepted for oral presentation at Second International Conference on Artificial Intelligence, Computation, Communication and Network Security.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2" name="Google Shape;432;p8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8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8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8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8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p8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8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8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8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8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8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8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8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8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8"/>
          <p:cNvCxnSpPr/>
          <p:nvPr/>
        </p:nvCxnSpPr>
        <p:spPr>
          <a:xfrm>
            <a:off x="-914400" y="2286000"/>
            <a:ext cx="3657600" cy="3657600"/>
          </a:xfrm>
          <a:prstGeom prst="straightConnector1">
            <a:avLst/>
          </a:prstGeom>
          <a:solidFill>
            <a:srgbClr val="3B82F6">
              <a:alpha val="7058"/>
            </a:srgbClr>
          </a:solidFill>
          <a:ln cap="flat" cmpd="sng" w="12700">
            <a:solidFill>
              <a:srgbClr val="3B82F6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8"/>
          <p:cNvCxnSpPr/>
          <p:nvPr/>
        </p:nvCxnSpPr>
        <p:spPr>
          <a:xfrm>
            <a:off x="6858000" y="-914400"/>
            <a:ext cx="3657600" cy="3657600"/>
          </a:xfrm>
          <a:prstGeom prst="straightConnector1">
            <a:avLst/>
          </a:prstGeom>
          <a:solidFill>
            <a:srgbClr val="3B82F6">
              <a:alpha val="7058"/>
            </a:srgbClr>
          </a:solidFill>
          <a:ln cap="flat" cmpd="sng" w="12700">
            <a:solidFill>
              <a:srgbClr val="3B82F6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8"/>
          <p:cNvSpPr txBox="1"/>
          <p:nvPr/>
        </p:nvSpPr>
        <p:spPr>
          <a:xfrm>
            <a:off x="3788488" y="2138038"/>
            <a:ext cx="2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449" name="Google Shape;449;p8"/>
          <p:cNvSpPr txBox="1"/>
          <p:nvPr/>
        </p:nvSpPr>
        <p:spPr>
          <a:xfrm>
            <a:off x="4083774" y="2701499"/>
            <a:ext cx="8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2026-04-13T16:26:31Z</dcterms:created>
  <dc:creator>PptxGenJS</dc:creator>
</cp:coreProperties>
</file>