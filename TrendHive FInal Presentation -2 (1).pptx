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64" r:id="rId4"/>
    <p:sldId id="257" r:id="rId5"/>
    <p:sldId id="258" r:id="rId6"/>
    <p:sldId id="265" r:id="rId7"/>
    <p:sldId id="259" r:id="rId8"/>
    <p:sldId id="260" r:id="rId9"/>
    <p:sldId id="261" r:id="rId10"/>
    <p:sldId id="263" r:id="rId1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jrF/QNpDEZZRiDgf0eEKv/tp5R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B27"/>
    <a:srgbClr val="000A21"/>
    <a:srgbClr val="000A20"/>
    <a:srgbClr val="000F2E"/>
    <a:srgbClr val="01133C"/>
    <a:srgbClr val="050A2C"/>
    <a:srgbClr val="050A27"/>
    <a:srgbClr val="050A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91"/>
  </p:normalViewPr>
  <p:slideViewPr>
    <p:cSldViewPr snapToGrid="0">
      <p:cViewPr varScale="1">
        <p:scale>
          <a:sx n="103" d="100"/>
          <a:sy n="103" d="100"/>
        </p:scale>
        <p:origin x="81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1E56FE43-D3C5-A62B-54E9-E0EF02B10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8:notes">
            <a:extLst>
              <a:ext uri="{FF2B5EF4-FFF2-40B4-BE49-F238E27FC236}">
                <a16:creationId xmlns:a16="http://schemas.microsoft.com/office/drawing/2014/main" id="{7C13E156-AF17-6EFB-3D76-9614B37576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8:notes">
            <a:extLst>
              <a:ext uri="{FF2B5EF4-FFF2-40B4-BE49-F238E27FC236}">
                <a16:creationId xmlns:a16="http://schemas.microsoft.com/office/drawing/2014/main" id="{90C01B57-315E-E8FA-461C-0AC2DE0198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8:notes">
            <a:extLst>
              <a:ext uri="{FF2B5EF4-FFF2-40B4-BE49-F238E27FC236}">
                <a16:creationId xmlns:a16="http://schemas.microsoft.com/office/drawing/2014/main" id="{FB7F7950-B403-4E06-4F4E-A9A2839BBA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0992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body" idx="2"/>
          </p:nvPr>
        </p:nvSpPr>
        <p:spPr>
          <a:xfrm>
            <a:off x="4629150" y="1369218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80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13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9.png"/><Relationship Id="rId5" Type="http://schemas.openxmlformats.org/officeDocument/2006/relationships/image" Target="../media/image29.png"/><Relationship Id="rId10" Type="http://schemas.openxmlformats.org/officeDocument/2006/relationships/image" Target="../media/image7.png"/><Relationship Id="rId4" Type="http://schemas.openxmlformats.org/officeDocument/2006/relationships/image" Target="../media/image21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descr="A screenshot of a compu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b="461"/>
          <a:stretch/>
        </p:blipFill>
        <p:spPr>
          <a:xfrm>
            <a:off x="20" y="961"/>
            <a:ext cx="9143980" cy="514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31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8" name="Google Shape;408;p7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9" name="Google Shape;409;p7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0" name="Google Shape;410;p7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1" name="Google Shape;411;p7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2" name="Google Shape;412;p7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3" name="Google Shape;413;p7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4" name="Google Shape;414;p7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5" name="Google Shape;415;p7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6" name="Google Shape;416;p7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7" name="Google Shape;417;p7"/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8" name="Google Shape;418;p7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9" name="Google Shape;419;p7"/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0" name="Google Shape;420;p7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1" name="Google Shape;421;p7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2" name="Google Shape;422;p7"/>
          <p:cNvCxnSpPr/>
          <p:nvPr/>
        </p:nvCxnSpPr>
        <p:spPr>
          <a:xfrm>
            <a:off x="-914400" y="2286000"/>
            <a:ext cx="3657600" cy="3657600"/>
          </a:xfrm>
          <a:prstGeom prst="straightConnector1">
            <a:avLst/>
          </a:prstGeom>
          <a:solidFill>
            <a:srgbClr val="3B82F6">
              <a:alpha val="7058"/>
            </a:srgbClr>
          </a:solidFill>
          <a:ln w="12700" cap="flat" cmpd="sng">
            <a:solidFill>
              <a:srgbClr val="3B82F6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3" name="Google Shape;423;p7"/>
          <p:cNvCxnSpPr/>
          <p:nvPr/>
        </p:nvCxnSpPr>
        <p:spPr>
          <a:xfrm>
            <a:off x="6858000" y="-914400"/>
            <a:ext cx="3657600" cy="3657600"/>
          </a:xfrm>
          <a:prstGeom prst="straightConnector1">
            <a:avLst/>
          </a:prstGeom>
          <a:solidFill>
            <a:srgbClr val="3B82F6">
              <a:alpha val="7058"/>
            </a:srgbClr>
          </a:solidFill>
          <a:ln w="12700" cap="flat" cmpd="sng">
            <a:solidFill>
              <a:srgbClr val="3B82F6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24" name="Google Shape;42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6463" y="1793876"/>
            <a:ext cx="6291071" cy="2630167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7"/>
          <p:cNvSpPr txBox="1"/>
          <p:nvPr/>
        </p:nvSpPr>
        <p:spPr>
          <a:xfrm>
            <a:off x="438917" y="293609"/>
            <a:ext cx="44988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AICCoNS</a:t>
            </a:r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dirty="0"/>
          </a:p>
        </p:txBody>
      </p:sp>
      <p:sp>
        <p:nvSpPr>
          <p:cNvPr id="426" name="Google Shape;426;p7"/>
          <p:cNvSpPr txBox="1"/>
          <p:nvPr/>
        </p:nvSpPr>
        <p:spPr>
          <a:xfrm>
            <a:off x="438917" y="969264"/>
            <a:ext cx="776323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are proud to inform you that our paper on TrendHive, has been accepted for oral presentation at Second International Conference on Artificial Intelligence, Computation, Communication and Network Security.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262DBDE-EC43-A57D-4627-78CB908F4FA2}"/>
              </a:ext>
            </a:extLst>
          </p:cNvPr>
          <p:cNvSpPr txBox="1"/>
          <p:nvPr/>
        </p:nvSpPr>
        <p:spPr>
          <a:xfrm>
            <a:off x="862148" y="293124"/>
            <a:ext cx="319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1800" b="1" dirty="0">
                <a:solidFill>
                  <a:schemeClr val="bg1"/>
                </a:solidFill>
              </a:rPr>
              <a:t>Problem Statement </a:t>
            </a:r>
          </a:p>
        </p:txBody>
      </p:sp>
      <p:pic>
        <p:nvPicPr>
          <p:cNvPr id="9" name="Google Shape;120;p2" descr="preencoded.png">
            <a:extLst>
              <a:ext uri="{FF2B5EF4-FFF2-40B4-BE49-F238E27FC236}">
                <a16:creationId xmlns:a16="http://schemas.microsoft.com/office/drawing/2014/main" id="{76B4B5AD-74AE-E6B0-67F0-28C80081CB8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1748" y="293124"/>
            <a:ext cx="320400" cy="3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14;p24">
            <a:extLst>
              <a:ext uri="{FF2B5EF4-FFF2-40B4-BE49-F238E27FC236}">
                <a16:creationId xmlns:a16="http://schemas.microsoft.com/office/drawing/2014/main" id="{6E40CD92-3396-DA23-BDA8-EB28FF5872A7}"/>
              </a:ext>
            </a:extLst>
          </p:cNvPr>
          <p:cNvSpPr/>
          <p:nvPr/>
        </p:nvSpPr>
        <p:spPr>
          <a:xfrm>
            <a:off x="753995" y="1096134"/>
            <a:ext cx="2440800" cy="2608820"/>
          </a:xfrm>
          <a:prstGeom prst="roundRect">
            <a:avLst>
              <a:gd name="adj" fmla="val 5000"/>
            </a:avLst>
          </a:prstGeom>
          <a:solidFill>
            <a:srgbClr val="F4F4F4">
              <a:alpha val="55309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bg1"/>
              </a:buClr>
            </a:pPr>
            <a:r>
              <a:rPr lang="en-US" b="1" dirty="0">
                <a:solidFill>
                  <a:schemeClr val="lt1"/>
                </a:solidFill>
                <a:latin typeface="Calibri"/>
                <a:cs typeface="Calibri"/>
              </a:rPr>
              <a:t>In today’s highly competitive and rapidly growing business environment, entrepreneurs and business</a:t>
            </a:r>
            <a:br>
              <a:rPr lang="en-US" b="1" dirty="0">
                <a:solidFill>
                  <a:schemeClr val="lt1"/>
                </a:solidFill>
                <a:latin typeface="Calibri"/>
                <a:cs typeface="Calibri"/>
              </a:rPr>
            </a:br>
            <a:r>
              <a:rPr lang="en-US" b="1" dirty="0">
                <a:solidFill>
                  <a:schemeClr val="lt1"/>
                </a:solidFill>
                <a:latin typeface="Calibri"/>
                <a:cs typeface="Calibri"/>
              </a:rPr>
              <a:t>owners face significant challenges in making informed, data-driven decisions. </a:t>
            </a:r>
            <a:br>
              <a:rPr lang="en-US" b="1" dirty="0">
                <a:solidFill>
                  <a:schemeClr val="lt1"/>
                </a:solidFill>
                <a:latin typeface="Calibri"/>
                <a:cs typeface="Calibri"/>
              </a:rPr>
            </a:br>
            <a:endParaRPr lang="en-US" b="1" dirty="0">
              <a:solidFill>
                <a:schemeClr val="lt1"/>
              </a:solidFill>
              <a:latin typeface="Calibri"/>
              <a:cs typeface="Calibri"/>
            </a:endParaRPr>
          </a:p>
        </p:txBody>
      </p:sp>
      <p:sp>
        <p:nvSpPr>
          <p:cNvPr id="16" name="Google Shape;114;p24">
            <a:extLst>
              <a:ext uri="{FF2B5EF4-FFF2-40B4-BE49-F238E27FC236}">
                <a16:creationId xmlns:a16="http://schemas.microsoft.com/office/drawing/2014/main" id="{D48F3C59-C918-9E59-5D46-D166D9097EFF}"/>
              </a:ext>
            </a:extLst>
          </p:cNvPr>
          <p:cNvSpPr/>
          <p:nvPr/>
        </p:nvSpPr>
        <p:spPr>
          <a:xfrm>
            <a:off x="5849759" y="1096133"/>
            <a:ext cx="2440800" cy="2608820"/>
          </a:xfrm>
          <a:prstGeom prst="roundRect">
            <a:avLst>
              <a:gd name="adj" fmla="val 5000"/>
            </a:avLst>
          </a:prstGeom>
          <a:solidFill>
            <a:srgbClr val="F4F4F4">
              <a:alpha val="5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bg1"/>
              </a:buClr>
            </a:pPr>
            <a:r>
              <a:rPr lang="en-US" b="1" dirty="0">
                <a:solidFill>
                  <a:schemeClr val="lt1"/>
                </a:solidFill>
                <a:latin typeface="Calibri"/>
                <a:cs typeface="Calibri"/>
              </a:rPr>
              <a:t>There is currently no unified, accessible system that integrates multi-source data with advanced </a:t>
            </a:r>
            <a:br>
              <a:rPr lang="en-US" b="1" dirty="0">
                <a:solidFill>
                  <a:schemeClr val="lt1"/>
                </a:solidFill>
                <a:latin typeface="Calibri"/>
                <a:cs typeface="Calibri"/>
              </a:rPr>
            </a:br>
            <a:r>
              <a:rPr lang="en-US" b="1" dirty="0">
                <a:solidFill>
                  <a:schemeClr val="lt1"/>
                </a:solidFill>
                <a:latin typeface="Calibri"/>
                <a:cs typeface="Calibri"/>
              </a:rPr>
              <a:t>analytics and explainable AI to provide clear, actionable insights tailored to specific industries. </a:t>
            </a:r>
          </a:p>
        </p:txBody>
      </p:sp>
      <p:sp>
        <p:nvSpPr>
          <p:cNvPr id="17" name="Google Shape;114;p24">
            <a:extLst>
              <a:ext uri="{FF2B5EF4-FFF2-40B4-BE49-F238E27FC236}">
                <a16:creationId xmlns:a16="http://schemas.microsoft.com/office/drawing/2014/main" id="{821F45C4-6228-49A5-107C-E3A0C55D9792}"/>
              </a:ext>
            </a:extLst>
          </p:cNvPr>
          <p:cNvSpPr/>
          <p:nvPr/>
        </p:nvSpPr>
        <p:spPr>
          <a:xfrm>
            <a:off x="3301877" y="1096133"/>
            <a:ext cx="2440800" cy="2608820"/>
          </a:xfrm>
          <a:prstGeom prst="roundRect">
            <a:avLst>
              <a:gd name="adj" fmla="val 5000"/>
            </a:avLst>
          </a:prstGeom>
          <a:solidFill>
            <a:srgbClr val="F4F4F4">
              <a:alpha val="5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bg1"/>
              </a:buClr>
            </a:pPr>
            <a:br>
              <a:rPr lang="en-US" b="1" dirty="0">
                <a:solidFill>
                  <a:schemeClr val="lt1"/>
                </a:solidFill>
                <a:latin typeface="Calibri"/>
                <a:cs typeface="Calibri"/>
              </a:rPr>
            </a:br>
            <a:r>
              <a:rPr lang="en-US" b="1" dirty="0">
                <a:solidFill>
                  <a:schemeClr val="lt1"/>
                </a:solidFill>
                <a:latin typeface="Calibri"/>
                <a:cs typeface="Calibri"/>
              </a:rPr>
              <a:t>Critical market insights such as consumer preferences, competitor positioning, location viability, tourism trends, and rental benchmarks are scattered across multiple platforms (e.g., reviews, search trends, geospatial data)</a:t>
            </a:r>
            <a:br>
              <a:rPr lang="en-US" b="1" dirty="0">
                <a:solidFill>
                  <a:schemeClr val="lt1"/>
                </a:solidFill>
                <a:latin typeface="Calibri"/>
                <a:cs typeface="Calibri"/>
              </a:rPr>
            </a:br>
            <a:endParaRPr lang="en-US" b="1" dirty="0">
              <a:solidFill>
                <a:schemeClr val="lt1"/>
              </a:solidFill>
              <a:latin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51797D-9C94-4BAA-8280-4A65A86B904A}"/>
              </a:ext>
            </a:extLst>
          </p:cNvPr>
          <p:cNvSpPr txBox="1"/>
          <p:nvPr/>
        </p:nvSpPr>
        <p:spPr>
          <a:xfrm>
            <a:off x="627016" y="3896269"/>
            <a:ext cx="76635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itchFamily="2" charset="2"/>
              <a:buChar char="v"/>
            </a:pPr>
            <a:r>
              <a:rPr lang="en-US" b="1" dirty="0">
                <a:solidFill>
                  <a:schemeClr val="lt1"/>
                </a:solidFill>
                <a:latin typeface="Calibri"/>
                <a:cs typeface="Calibri"/>
              </a:rPr>
              <a:t>This creates a critical gap in the market. The lack of a centralized, intelligent platform that enables entrepreneurs to understand market dynamics, evaluate competition, and make confident, data-backed business decisions.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026964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p2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" name="Google Shape;92;p2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" name="Google Shape;93;p2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" name="Google Shape;94;p2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" name="Google Shape;95;p2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" name="Google Shape;96;p2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" name="Google Shape;97;p2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" name="Google Shape;98;p2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" name="Google Shape;99;p2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" name="Google Shape;100;p2"/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1" name="Google Shape;101;p2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" name="Google Shape;102;p2"/>
          <p:cNvCxnSpPr/>
          <p:nvPr/>
        </p:nvCxnSpPr>
        <p:spPr>
          <a:xfrm>
            <a:off x="0" y="2779775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" name="Google Shape;103;p2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" name="Google Shape;104;p2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2"/>
          <p:cNvCxnSpPr/>
          <p:nvPr/>
        </p:nvCxnSpPr>
        <p:spPr>
          <a:xfrm>
            <a:off x="640080" y="292608"/>
            <a:ext cx="365760" cy="365760"/>
          </a:xfrm>
          <a:prstGeom prst="straightConnector1">
            <a:avLst/>
          </a:prstGeom>
          <a:solidFill>
            <a:srgbClr val="3B82F6">
              <a:alpha val="25098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6" name="Google Shape;106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329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/>
          <p:nvPr/>
        </p:nvSpPr>
        <p:spPr>
          <a:xfrm>
            <a:off x="1097280" y="274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 Size &amp; Problem Overview 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1097280" y="5669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Dubai café market analysis and SME challenges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73988" y="1379513"/>
            <a:ext cx="1257295" cy="187448"/>
          </a:xfrm>
          <a:prstGeom prst="rect">
            <a:avLst/>
          </a:prstGeom>
          <a:noFill/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Market Size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656482" y="1643635"/>
            <a:ext cx="1508754" cy="38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$3.2B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656482" y="2082547"/>
            <a:ext cx="1508754" cy="18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Industry value  ↑ 8%</a:t>
            </a:r>
            <a:endParaRPr/>
          </a:p>
        </p:txBody>
      </p:sp>
      <p:cxnSp>
        <p:nvCxnSpPr>
          <p:cNvPr id="112" name="Google Shape;112;p2"/>
          <p:cNvCxnSpPr/>
          <p:nvPr/>
        </p:nvCxnSpPr>
        <p:spPr>
          <a:xfrm flipH="1">
            <a:off x="2365628" y="1351028"/>
            <a:ext cx="4908" cy="877597"/>
          </a:xfrm>
          <a:prstGeom prst="straightConnector1">
            <a:avLst/>
          </a:prstGeom>
          <a:solidFill>
            <a:srgbClr val="3B82F6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3" name="Google Shape;113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8162" y="1424179"/>
            <a:ext cx="238570" cy="23857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/>
          <p:nvPr/>
        </p:nvSpPr>
        <p:spPr>
          <a:xfrm>
            <a:off x="3051427" y="1451613"/>
            <a:ext cx="1257295" cy="18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 Cafés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2668162" y="1643635"/>
            <a:ext cx="1508754" cy="38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4,800+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2668162" y="2082547"/>
            <a:ext cx="1508754" cy="18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Highly saturated  ↑ 5%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721447" y="2847725"/>
            <a:ext cx="2423150" cy="20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SMEs Struggle With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4006" y="3206629"/>
            <a:ext cx="152312" cy="15231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"/>
          <p:cNvSpPr/>
          <p:nvPr/>
        </p:nvSpPr>
        <p:spPr>
          <a:xfrm>
            <a:off x="950038" y="3197485"/>
            <a:ext cx="2423150" cy="192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access to advanced analytics</a:t>
            </a:r>
            <a:endParaRPr/>
          </a:p>
        </p:txBody>
      </p:sp>
      <p:pic>
        <p:nvPicPr>
          <p:cNvPr id="120" name="Google Shape;120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4006" y="3590677"/>
            <a:ext cx="152312" cy="15231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/>
          <p:nvPr/>
        </p:nvSpPr>
        <p:spPr>
          <a:xfrm>
            <a:off x="950038" y="3581533"/>
            <a:ext cx="2423150" cy="192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Fragmented data (reviews, tourism, competitors)</a:t>
            </a:r>
            <a:endParaRPr/>
          </a:p>
        </p:txBody>
      </p:sp>
      <p:pic>
        <p:nvPicPr>
          <p:cNvPr id="122" name="Google Shape;122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4006" y="3974725"/>
            <a:ext cx="152312" cy="15231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/>
          <p:nvPr/>
        </p:nvSpPr>
        <p:spPr>
          <a:xfrm>
            <a:off x="950038" y="3965581"/>
            <a:ext cx="2423150" cy="192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Reliance on intuition instead of data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5074920" y="960119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⬡  Data Integration Challenges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66360" y="1389887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"/>
          <p:cNvSpPr/>
          <p:nvPr/>
        </p:nvSpPr>
        <p:spPr>
          <a:xfrm>
            <a:off x="5513832" y="1325879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Multi-source data</a:t>
            </a:r>
            <a:endParaRPr sz="1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5513832" y="1517903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Google Places, Trends, geospatial, rent benchmarks</a:t>
            </a:r>
            <a:endParaRPr/>
          </a:p>
        </p:txBody>
      </p:sp>
      <p:pic>
        <p:nvPicPr>
          <p:cNvPr id="128" name="Google Shape;128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166360" y="1920239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"/>
          <p:cNvSpPr/>
          <p:nvPr/>
        </p:nvSpPr>
        <p:spPr>
          <a:xfrm>
            <a:off x="5513832" y="1856231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analysis</a:t>
            </a:r>
            <a:endParaRPr sz="1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5513832" y="2048255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Growth classification &amp; demand forecasting</a:t>
            </a:r>
            <a:endParaRPr/>
          </a:p>
        </p:txBody>
      </p:sp>
      <p:pic>
        <p:nvPicPr>
          <p:cNvPr id="131" name="Google Shape;131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166360" y="2450591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"/>
          <p:cNvSpPr/>
          <p:nvPr/>
        </p:nvSpPr>
        <p:spPr>
          <a:xfrm>
            <a:off x="5513832" y="2386583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Smart insights</a:t>
            </a:r>
            <a:endParaRPr sz="1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5513832" y="2578607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AI-generated investor narratives</a:t>
            </a:r>
            <a:endParaRPr dirty="0"/>
          </a:p>
        </p:txBody>
      </p:sp>
      <p:pic>
        <p:nvPicPr>
          <p:cNvPr id="134" name="Google Shape;134;p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10330" y="3225437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/>
          <p:cNvSpPr/>
          <p:nvPr/>
        </p:nvSpPr>
        <p:spPr>
          <a:xfrm>
            <a:off x="5230370" y="3216293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Gap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4910330" y="3527189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system that combines multi-source data + AI + explainability for café-specific decisions.</a:t>
            </a:r>
            <a:endParaRPr/>
          </a:p>
        </p:txBody>
      </p:sp>
      <p:pic>
        <p:nvPicPr>
          <p:cNvPr id="137" name="Google Shape;137;p2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922010" y="3225437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"/>
          <p:cNvSpPr/>
          <p:nvPr/>
        </p:nvSpPr>
        <p:spPr>
          <a:xfrm>
            <a:off x="7242050" y="3216293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Opportunity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6922010" y="3527189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Deliver data-driven, explainable intelligence to reduce investment risk in a crowded market.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p3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7" name="Google Shape;147;p3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8" name="Google Shape;148;p3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" name="Google Shape;149;p3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" name="Google Shape;150;p3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1" name="Google Shape;151;p3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" name="Google Shape;152;p3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" name="Google Shape;153;p3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4" name="Google Shape;154;p3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55;p3"/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p3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Google Shape;157;p3"/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3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3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3"/>
          <p:cNvCxnSpPr/>
          <p:nvPr/>
        </p:nvCxnSpPr>
        <p:spPr>
          <a:xfrm>
            <a:off x="640080" y="292608"/>
            <a:ext cx="365760" cy="365760"/>
          </a:xfrm>
          <a:prstGeom prst="straightConnector1">
            <a:avLst/>
          </a:prstGeom>
          <a:solidFill>
            <a:srgbClr val="3B82F6">
              <a:alpha val="25098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1" name="Google Shape;161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329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"/>
          <p:cNvSpPr/>
          <p:nvPr/>
        </p:nvSpPr>
        <p:spPr>
          <a:xfrm>
            <a:off x="1097280" y="274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Solution: </a:t>
            </a:r>
            <a:r>
              <a:rPr lang="en-US" sz="20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TrendHive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1097280" y="5669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AI-driven market intelligence and competitor analysis platform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768096" y="996695"/>
            <a:ext cx="3291840" cy="274320"/>
          </a:xfrm>
          <a:prstGeom prst="rect">
            <a:avLst/>
          </a:prstGeom>
          <a:noFill/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AI-Driven Market Intelligence Platform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768096" y="1298448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Built on comprehensive data analysis of cafés and restaurants across 24 Dubai areas, processing 563,534 real customer reviews to deliver actionable insights.</a:t>
            </a:r>
            <a:endParaRPr dirty="0"/>
          </a:p>
        </p:txBody>
      </p:sp>
      <p:sp>
        <p:nvSpPr>
          <p:cNvPr id="166" name="Google Shape;166;p3"/>
          <p:cNvSpPr/>
          <p:nvPr/>
        </p:nvSpPr>
        <p:spPr>
          <a:xfrm>
            <a:off x="800100" y="1929384"/>
            <a:ext cx="1417320" cy="201168"/>
          </a:xfrm>
          <a:prstGeom prst="rect">
            <a:avLst/>
          </a:prstGeom>
          <a:noFill/>
          <a:ln w="12700" cap="flat" cmpd="sng">
            <a:solidFill>
              <a:srgbClr val="3B82F6">
                <a:alpha val="2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  Google Places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2898648" y="1920240"/>
            <a:ext cx="1417320" cy="201168"/>
          </a:xfrm>
          <a:prstGeom prst="rect">
            <a:avLst/>
          </a:prstGeom>
          <a:noFill/>
          <a:ln w="12700" cap="flat" cmpd="sng">
            <a:solidFill>
              <a:srgbClr val="3B82F6">
                <a:alpha val="2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  Google Trends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800100" y="2245516"/>
            <a:ext cx="1417320" cy="201168"/>
          </a:xfrm>
          <a:prstGeom prst="rect">
            <a:avLst/>
          </a:prstGeom>
          <a:noFill/>
          <a:ln w="12700" cap="flat" cmpd="sng">
            <a:solidFill>
              <a:srgbClr val="3B82F6">
                <a:alpha val="2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  Geospatial Data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2898648" y="2267712"/>
            <a:ext cx="1417320" cy="201168"/>
          </a:xfrm>
          <a:prstGeom prst="rect">
            <a:avLst/>
          </a:prstGeom>
          <a:noFill/>
          <a:ln w="12700" cap="flat" cmpd="sng">
            <a:solidFill>
              <a:srgbClr val="3B82F6">
                <a:alpha val="2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  Rent Benchmarks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" y="27614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"/>
          <p:cNvSpPr/>
          <p:nvPr/>
        </p:nvSpPr>
        <p:spPr>
          <a:xfrm>
            <a:off x="1051560" y="27432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Cafés Analyzed</a:t>
            </a: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731520" y="299923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lang="en-US" sz="2600" b="1" dirty="0">
                <a:solidFill>
                  <a:srgbClr val="FFFFFF"/>
                </a:solidFill>
                <a:ea typeface="Calibri"/>
              </a:rPr>
              <a:t>4200+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731520" y="34107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Across 24 Dubai areas</a:t>
            </a:r>
            <a:endParaRPr/>
          </a:p>
        </p:txBody>
      </p:sp>
      <p:pic>
        <p:nvPicPr>
          <p:cNvPr id="174" name="Google Shape;174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43200" y="27614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"/>
          <p:cNvSpPr/>
          <p:nvPr/>
        </p:nvSpPr>
        <p:spPr>
          <a:xfrm>
            <a:off x="3063240" y="27432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Reviews Processed</a:t>
            </a: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2743200" y="299923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lang="en-US" sz="2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563,534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2743200" y="34107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 customer reviews</a:t>
            </a:r>
            <a:endParaRPr/>
          </a:p>
        </p:txBody>
      </p:sp>
      <p:pic>
        <p:nvPicPr>
          <p:cNvPr id="178" name="Google Shape;178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1520" y="39044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"/>
          <p:cNvSpPr/>
          <p:nvPr/>
        </p:nvSpPr>
        <p:spPr>
          <a:xfrm>
            <a:off x="1051560" y="38862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Coverage Areas</a:t>
            </a: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731520" y="414223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lang="en-US" sz="2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731520" y="45537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Dubai districts</a:t>
            </a:r>
            <a:endParaRPr/>
          </a:p>
        </p:txBody>
      </p:sp>
      <p:pic>
        <p:nvPicPr>
          <p:cNvPr id="182" name="Google Shape;182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43200" y="39044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"/>
          <p:cNvSpPr/>
          <p:nvPr/>
        </p:nvSpPr>
        <p:spPr>
          <a:xfrm>
            <a:off x="3017520" y="3927387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API Endpoints</a:t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2743200" y="414223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lang="en-US" sz="2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11+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2743200" y="45537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Powering the system</a:t>
            </a: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4892040" y="9875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System Capabilities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94960" y="14081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"/>
          <p:cNvSpPr/>
          <p:nvPr/>
        </p:nvSpPr>
        <p:spPr>
          <a:xfrm>
            <a:off x="4937760" y="173736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Growth Classification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4937760" y="201168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Calibri"/>
              <a:buNone/>
            </a:pPr>
            <a:r>
              <a:rPr lang="en-US" sz="7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GROWING / STABLE / DECLINING</a:t>
            </a:r>
            <a:endParaRPr/>
          </a:p>
        </p:txBody>
      </p:sp>
      <p:pic>
        <p:nvPicPr>
          <p:cNvPr id="190" name="Google Shape;190;p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48272" y="14081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"/>
          <p:cNvSpPr/>
          <p:nvPr/>
        </p:nvSpPr>
        <p:spPr>
          <a:xfrm>
            <a:off x="6291072" y="173736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Demand Forecasting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6291072" y="201168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Calibri"/>
              <a:buNone/>
            </a:pPr>
            <a:r>
              <a:rPr lang="en-US" sz="7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6-month</a:t>
            </a:r>
            <a:r>
              <a:rPr lang="en-US" sz="7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7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horizon</a:t>
            </a:r>
            <a:endParaRPr/>
          </a:p>
        </p:txBody>
      </p:sp>
      <p:pic>
        <p:nvPicPr>
          <p:cNvPr id="193" name="Google Shape;193;p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01584" y="14081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"/>
          <p:cNvSpPr/>
          <p:nvPr/>
        </p:nvSpPr>
        <p:spPr>
          <a:xfrm>
            <a:off x="7644384" y="173736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Insights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7644384" y="201168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Calibri"/>
              <a:buNone/>
            </a:pPr>
            <a:r>
              <a:rPr lang="en-US" sz="7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Investor narratives</a:t>
            </a:r>
            <a:endParaRPr/>
          </a:p>
        </p:txBody>
      </p:sp>
      <p:pic>
        <p:nvPicPr>
          <p:cNvPr id="196" name="Google Shape;196;p3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46320" y="27706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"/>
          <p:cNvSpPr/>
          <p:nvPr/>
        </p:nvSpPr>
        <p:spPr>
          <a:xfrm>
            <a:off x="5166360" y="27614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at Scale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4846320" y="3090672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120 AI-generated narratives (24 areas × 5 investor profiles) with real-time monitoring and actionable insights.</a:t>
            </a:r>
            <a:endParaRPr dirty="0"/>
          </a:p>
        </p:txBody>
      </p:sp>
      <p:sp>
        <p:nvSpPr>
          <p:cNvPr id="199" name="Google Shape;199;p3"/>
          <p:cNvSpPr/>
          <p:nvPr/>
        </p:nvSpPr>
        <p:spPr>
          <a:xfrm>
            <a:off x="4892040" y="3712464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4892040" y="415137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narratives</a:t>
            </a:r>
            <a:endParaRPr/>
          </a:p>
        </p:txBody>
      </p:sp>
      <p:sp>
        <p:nvSpPr>
          <p:cNvPr id="201" name="Google Shape;201;p3"/>
          <p:cNvSpPr/>
          <p:nvPr/>
        </p:nvSpPr>
        <p:spPr>
          <a:xfrm>
            <a:off x="6190488" y="3712464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6190488" y="415137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Areas covered</a:t>
            </a:r>
            <a:endParaRPr/>
          </a:p>
        </p:txBody>
      </p:sp>
      <p:sp>
        <p:nvSpPr>
          <p:cNvPr id="203" name="Google Shape;203;p3"/>
          <p:cNvSpPr/>
          <p:nvPr/>
        </p:nvSpPr>
        <p:spPr>
          <a:xfrm>
            <a:off x="7488936" y="3712464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7488936" y="415137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Investor profiles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31">
          <a:extLst>
            <a:ext uri="{FF2B5EF4-FFF2-40B4-BE49-F238E27FC236}">
              <a16:creationId xmlns:a16="http://schemas.microsoft.com/office/drawing/2014/main" id="{5E7D91EE-49FC-A9F3-5066-B321FD000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2" name="Google Shape;432;p8">
            <a:extLst>
              <a:ext uri="{FF2B5EF4-FFF2-40B4-BE49-F238E27FC236}">
                <a16:creationId xmlns:a16="http://schemas.microsoft.com/office/drawing/2014/main" id="{3889D4EA-FBB6-E8D8-5E61-6BC5919C353A}"/>
              </a:ext>
            </a:extLst>
          </p:cNvPr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3" name="Google Shape;433;p8">
            <a:extLst>
              <a:ext uri="{FF2B5EF4-FFF2-40B4-BE49-F238E27FC236}">
                <a16:creationId xmlns:a16="http://schemas.microsoft.com/office/drawing/2014/main" id="{25C10DFD-5D1D-ED20-C818-B643E07F7F5F}"/>
              </a:ext>
            </a:extLst>
          </p:cNvPr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4" name="Google Shape;434;p8">
            <a:extLst>
              <a:ext uri="{FF2B5EF4-FFF2-40B4-BE49-F238E27FC236}">
                <a16:creationId xmlns:a16="http://schemas.microsoft.com/office/drawing/2014/main" id="{A9BE7FCE-1E7E-13B6-E883-66146AAFEC6C}"/>
              </a:ext>
            </a:extLst>
          </p:cNvPr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5" name="Google Shape;435;p8">
            <a:extLst>
              <a:ext uri="{FF2B5EF4-FFF2-40B4-BE49-F238E27FC236}">
                <a16:creationId xmlns:a16="http://schemas.microsoft.com/office/drawing/2014/main" id="{E58CF23E-77A7-6C38-BDDD-D105E067E510}"/>
              </a:ext>
            </a:extLst>
          </p:cNvPr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6" name="Google Shape;436;p8">
            <a:extLst>
              <a:ext uri="{FF2B5EF4-FFF2-40B4-BE49-F238E27FC236}">
                <a16:creationId xmlns:a16="http://schemas.microsoft.com/office/drawing/2014/main" id="{CCCADEE6-922B-D4F5-B1CA-A89F75425504}"/>
              </a:ext>
            </a:extLst>
          </p:cNvPr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7" name="Google Shape;437;p8">
            <a:extLst>
              <a:ext uri="{FF2B5EF4-FFF2-40B4-BE49-F238E27FC236}">
                <a16:creationId xmlns:a16="http://schemas.microsoft.com/office/drawing/2014/main" id="{45C18D5F-56CE-5413-AD23-0487B2CFDB17}"/>
              </a:ext>
            </a:extLst>
          </p:cNvPr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8" name="Google Shape;438;p8">
            <a:extLst>
              <a:ext uri="{FF2B5EF4-FFF2-40B4-BE49-F238E27FC236}">
                <a16:creationId xmlns:a16="http://schemas.microsoft.com/office/drawing/2014/main" id="{D9E7A284-6E60-FE00-7E5E-1023243E3E4D}"/>
              </a:ext>
            </a:extLst>
          </p:cNvPr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9" name="Google Shape;439;p8">
            <a:extLst>
              <a:ext uri="{FF2B5EF4-FFF2-40B4-BE49-F238E27FC236}">
                <a16:creationId xmlns:a16="http://schemas.microsoft.com/office/drawing/2014/main" id="{2EBA34E6-BB76-C137-9A78-8FDDC0816DE3}"/>
              </a:ext>
            </a:extLst>
          </p:cNvPr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0" name="Google Shape;440;p8">
            <a:extLst>
              <a:ext uri="{FF2B5EF4-FFF2-40B4-BE49-F238E27FC236}">
                <a16:creationId xmlns:a16="http://schemas.microsoft.com/office/drawing/2014/main" id="{3D2AF6F2-1C10-38D6-A2AF-0D5856588733}"/>
              </a:ext>
            </a:extLst>
          </p:cNvPr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1" name="Google Shape;441;p8">
            <a:extLst>
              <a:ext uri="{FF2B5EF4-FFF2-40B4-BE49-F238E27FC236}">
                <a16:creationId xmlns:a16="http://schemas.microsoft.com/office/drawing/2014/main" id="{B90C9ED8-F265-2D67-2D9B-6B89110F2C18}"/>
              </a:ext>
            </a:extLst>
          </p:cNvPr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2" name="Google Shape;442;p8">
            <a:extLst>
              <a:ext uri="{FF2B5EF4-FFF2-40B4-BE49-F238E27FC236}">
                <a16:creationId xmlns:a16="http://schemas.microsoft.com/office/drawing/2014/main" id="{4430DBAB-8386-7E28-C436-B155660477B2}"/>
              </a:ext>
            </a:extLst>
          </p:cNvPr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3" name="Google Shape;443;p8">
            <a:extLst>
              <a:ext uri="{FF2B5EF4-FFF2-40B4-BE49-F238E27FC236}">
                <a16:creationId xmlns:a16="http://schemas.microsoft.com/office/drawing/2014/main" id="{90CBCC8D-BAE1-EEAB-6637-2C5DC983D2A9}"/>
              </a:ext>
            </a:extLst>
          </p:cNvPr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4" name="Google Shape;444;p8">
            <a:extLst>
              <a:ext uri="{FF2B5EF4-FFF2-40B4-BE49-F238E27FC236}">
                <a16:creationId xmlns:a16="http://schemas.microsoft.com/office/drawing/2014/main" id="{A1312C3F-4E8C-C1BE-BB37-DA6EB600C843}"/>
              </a:ext>
            </a:extLst>
          </p:cNvPr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5" name="Google Shape;445;p8">
            <a:extLst>
              <a:ext uri="{FF2B5EF4-FFF2-40B4-BE49-F238E27FC236}">
                <a16:creationId xmlns:a16="http://schemas.microsoft.com/office/drawing/2014/main" id="{6F817FF3-6862-3FCA-CF12-07CC33F8FBE4}"/>
              </a:ext>
            </a:extLst>
          </p:cNvPr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6" name="Google Shape;446;p8">
            <a:extLst>
              <a:ext uri="{FF2B5EF4-FFF2-40B4-BE49-F238E27FC236}">
                <a16:creationId xmlns:a16="http://schemas.microsoft.com/office/drawing/2014/main" id="{AE4F8682-8615-B0CB-64B6-2583D70C2A37}"/>
              </a:ext>
            </a:extLst>
          </p:cNvPr>
          <p:cNvCxnSpPr/>
          <p:nvPr/>
        </p:nvCxnSpPr>
        <p:spPr>
          <a:xfrm>
            <a:off x="-914400" y="2286000"/>
            <a:ext cx="3657600" cy="3657600"/>
          </a:xfrm>
          <a:prstGeom prst="straightConnector1">
            <a:avLst/>
          </a:prstGeom>
          <a:solidFill>
            <a:srgbClr val="3B82F6">
              <a:alpha val="7058"/>
            </a:srgbClr>
          </a:solidFill>
          <a:ln w="12700" cap="flat" cmpd="sng">
            <a:solidFill>
              <a:srgbClr val="3B82F6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7" name="Google Shape;447;p8">
            <a:extLst>
              <a:ext uri="{FF2B5EF4-FFF2-40B4-BE49-F238E27FC236}">
                <a16:creationId xmlns:a16="http://schemas.microsoft.com/office/drawing/2014/main" id="{590F7328-E0D6-0B36-F7B3-73934B7F2819}"/>
              </a:ext>
            </a:extLst>
          </p:cNvPr>
          <p:cNvCxnSpPr/>
          <p:nvPr/>
        </p:nvCxnSpPr>
        <p:spPr>
          <a:xfrm>
            <a:off x="6858000" y="-914400"/>
            <a:ext cx="3657600" cy="3657600"/>
          </a:xfrm>
          <a:prstGeom prst="straightConnector1">
            <a:avLst/>
          </a:prstGeom>
          <a:solidFill>
            <a:srgbClr val="3B82F6">
              <a:alpha val="7058"/>
            </a:srgbClr>
          </a:solidFill>
          <a:ln w="12700" cap="flat" cmpd="sng">
            <a:solidFill>
              <a:srgbClr val="3B82F6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8" name="Google Shape;448;p8">
            <a:extLst>
              <a:ext uri="{FF2B5EF4-FFF2-40B4-BE49-F238E27FC236}">
                <a16:creationId xmlns:a16="http://schemas.microsoft.com/office/drawing/2014/main" id="{548A0CBA-FFE0-38F0-C66F-4CB3C629780E}"/>
              </a:ext>
            </a:extLst>
          </p:cNvPr>
          <p:cNvSpPr txBox="1"/>
          <p:nvPr/>
        </p:nvSpPr>
        <p:spPr>
          <a:xfrm>
            <a:off x="770575" y="278011"/>
            <a:ext cx="2978063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Technologies Used</a:t>
            </a:r>
            <a:endParaRPr sz="2000" b="1" dirty="0">
              <a:solidFill>
                <a:schemeClr val="bg1"/>
              </a:solidFill>
            </a:endParaRPr>
          </a:p>
        </p:txBody>
      </p:sp>
      <p:pic>
        <p:nvPicPr>
          <p:cNvPr id="2" name="Google Shape;182;p3" descr="preencoded.png">
            <a:extLst>
              <a:ext uri="{FF2B5EF4-FFF2-40B4-BE49-F238E27FC236}">
                <a16:creationId xmlns:a16="http://schemas.microsoft.com/office/drawing/2014/main" id="{BA4A3A41-733B-BD1D-E8E6-872C790259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345" y="33549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24">
            <a:extLst>
              <a:ext uri="{FF2B5EF4-FFF2-40B4-BE49-F238E27FC236}">
                <a16:creationId xmlns:a16="http://schemas.microsoft.com/office/drawing/2014/main" id="{B7E666D1-81ED-CB72-5F73-14752B1E57E6}"/>
              </a:ext>
            </a:extLst>
          </p:cNvPr>
          <p:cNvSpPr/>
          <p:nvPr/>
        </p:nvSpPr>
        <p:spPr>
          <a:xfrm>
            <a:off x="572804" y="1059038"/>
            <a:ext cx="2458800" cy="1638000"/>
          </a:xfrm>
          <a:prstGeom prst="roundRect">
            <a:avLst>
              <a:gd name="adj" fmla="val 5000"/>
            </a:avLst>
          </a:prstGeom>
          <a:solidFill>
            <a:srgbClr val="F4F4F4">
              <a:alpha val="55309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bg1"/>
              </a:buClr>
            </a:pPr>
            <a:r>
              <a:rPr lang="en-US" sz="1100" b="1" u="sng" dirty="0">
                <a:solidFill>
                  <a:schemeClr val="lt1"/>
                </a:solidFill>
                <a:latin typeface="Calibri"/>
                <a:cs typeface="Calibri"/>
              </a:rPr>
              <a:t>Frontend</a:t>
            </a:r>
            <a:br>
              <a:rPr lang="en-US" sz="1100" b="1" u="sng" dirty="0">
                <a:solidFill>
                  <a:schemeClr val="lt1"/>
                </a:solidFill>
                <a:latin typeface="Calibri"/>
                <a:cs typeface="Calibri"/>
              </a:rPr>
            </a:br>
            <a:endParaRPr lang="en-US" sz="1100" b="1" u="sng" dirty="0">
              <a:solidFill>
                <a:schemeClr val="lt1"/>
              </a:solidFill>
              <a:latin typeface="Calibri"/>
              <a:cs typeface="Calibri"/>
            </a:endParaRPr>
          </a:p>
          <a:p>
            <a:pPr algn="ctr">
              <a:buClr>
                <a:schemeClr val="bg1"/>
              </a:buClr>
            </a:pPr>
            <a:r>
              <a:rPr lang="en-US" sz="1100" b="1" dirty="0">
                <a:solidFill>
                  <a:schemeClr val="lt1"/>
                </a:solidFill>
                <a:latin typeface="Calibri"/>
                <a:cs typeface="Calibri"/>
              </a:rPr>
              <a:t>•React (Vite) – Fast, scalable UI</a:t>
            </a:r>
          </a:p>
          <a:p>
            <a:pPr algn="ctr">
              <a:buClr>
                <a:schemeClr val="bg1"/>
              </a:buClr>
            </a:pPr>
            <a:r>
              <a:rPr lang="en-US" sz="1100" b="1" dirty="0">
                <a:solidFill>
                  <a:schemeClr val="lt1"/>
                </a:solidFill>
                <a:latin typeface="Calibri"/>
                <a:cs typeface="Calibri"/>
              </a:rPr>
              <a:t>•Recharts – Data visualization (charts &amp; dashboards)</a:t>
            </a:r>
          </a:p>
          <a:p>
            <a:pPr algn="ctr">
              <a:buClr>
                <a:schemeClr val="bg1"/>
              </a:buClr>
            </a:pPr>
            <a:r>
              <a:rPr lang="en-US" sz="1100" b="1" dirty="0">
                <a:solidFill>
                  <a:schemeClr val="lt1"/>
                </a:solidFill>
                <a:latin typeface="Calibri"/>
                <a:cs typeface="Calibri"/>
              </a:rPr>
              <a:t>•Context API + React Router – State management &amp; navigation</a:t>
            </a:r>
          </a:p>
          <a:p>
            <a:pPr algn="ctr">
              <a:buClr>
                <a:schemeClr val="bg1"/>
              </a:buClr>
            </a:pPr>
            <a:r>
              <a:rPr lang="en-US" sz="1100" b="1" dirty="0">
                <a:solidFill>
                  <a:schemeClr val="lt1"/>
                </a:solidFill>
                <a:latin typeface="Calibri"/>
                <a:cs typeface="Calibri"/>
              </a:rPr>
              <a:t>•Map Integration – Geospatial visualization</a:t>
            </a:r>
          </a:p>
        </p:txBody>
      </p:sp>
      <p:sp>
        <p:nvSpPr>
          <p:cNvPr id="4" name="Google Shape;114;p24">
            <a:extLst>
              <a:ext uri="{FF2B5EF4-FFF2-40B4-BE49-F238E27FC236}">
                <a16:creationId xmlns:a16="http://schemas.microsoft.com/office/drawing/2014/main" id="{1CA51A5A-DE46-6924-B516-7635B92B4309}"/>
              </a:ext>
            </a:extLst>
          </p:cNvPr>
          <p:cNvSpPr/>
          <p:nvPr/>
        </p:nvSpPr>
        <p:spPr>
          <a:xfrm>
            <a:off x="572804" y="2821715"/>
            <a:ext cx="2458800" cy="1638000"/>
          </a:xfrm>
          <a:prstGeom prst="roundRect">
            <a:avLst>
              <a:gd name="adj" fmla="val 5000"/>
            </a:avLst>
          </a:prstGeom>
          <a:solidFill>
            <a:srgbClr val="F4F4F4">
              <a:alpha val="55309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bg1"/>
              </a:buClr>
            </a:pPr>
            <a:r>
              <a:rPr lang="en-US" sz="1100" b="1" u="sng" dirty="0">
                <a:solidFill>
                  <a:schemeClr val="lt1"/>
                </a:solidFill>
                <a:latin typeface="Calibri"/>
                <a:cs typeface="Calibri"/>
              </a:rPr>
              <a:t>Backend</a:t>
            </a:r>
            <a:br>
              <a:rPr lang="en-US" sz="1100" b="1" u="sng" dirty="0">
                <a:solidFill>
                  <a:schemeClr val="lt1"/>
                </a:solidFill>
                <a:latin typeface="Calibri"/>
                <a:cs typeface="Calibri"/>
              </a:rPr>
            </a:br>
            <a:endParaRPr lang="en-US" sz="1100" b="1" u="sng" dirty="0">
              <a:solidFill>
                <a:schemeClr val="lt1"/>
              </a:solidFill>
              <a:latin typeface="Calibri"/>
              <a:cs typeface="Calibri"/>
            </a:endParaRPr>
          </a:p>
          <a:p>
            <a:pPr algn="ctr">
              <a:buClr>
                <a:schemeClr val="bg1"/>
              </a:buClr>
            </a:pPr>
            <a:r>
              <a:rPr lang="en-US" sz="1100" b="1" dirty="0">
                <a:solidFill>
                  <a:schemeClr val="lt1"/>
                </a:solidFill>
                <a:latin typeface="Calibri"/>
                <a:cs typeface="Calibri"/>
              </a:rPr>
              <a:t>•</a:t>
            </a:r>
            <a:r>
              <a:rPr lang="en-US" sz="1100" b="1" dirty="0" err="1">
                <a:solidFill>
                  <a:schemeClr val="lt1"/>
                </a:solidFill>
                <a:latin typeface="Calibri"/>
                <a:cs typeface="Calibri"/>
              </a:rPr>
              <a:t>FastAPI</a:t>
            </a:r>
            <a:r>
              <a:rPr lang="en-US" sz="1100" b="1" dirty="0">
                <a:solidFill>
                  <a:schemeClr val="lt1"/>
                </a:solidFill>
                <a:latin typeface="Calibri"/>
                <a:cs typeface="Calibri"/>
              </a:rPr>
              <a:t> (Python) – High-performance REST APIs</a:t>
            </a:r>
          </a:p>
          <a:p>
            <a:pPr algn="ctr">
              <a:buClr>
                <a:schemeClr val="bg1"/>
              </a:buClr>
            </a:pPr>
            <a:r>
              <a:rPr lang="en-US" sz="1100" b="1" dirty="0">
                <a:solidFill>
                  <a:schemeClr val="lt1"/>
                </a:solidFill>
                <a:latin typeface="Calibri"/>
                <a:cs typeface="Calibri"/>
              </a:rPr>
              <a:t>•Pandas &amp; NumPy – Data processing &amp; analytics</a:t>
            </a:r>
          </a:p>
          <a:p>
            <a:pPr algn="ctr">
              <a:buClr>
                <a:schemeClr val="bg1"/>
              </a:buClr>
            </a:pPr>
            <a:r>
              <a:rPr lang="en-US" sz="1100" b="1" dirty="0">
                <a:solidFill>
                  <a:schemeClr val="lt1"/>
                </a:solidFill>
                <a:latin typeface="Calibri"/>
                <a:cs typeface="Calibri"/>
              </a:rPr>
              <a:t>•Modular Architecture – APIs for analytics, predictions, maps</a:t>
            </a:r>
          </a:p>
        </p:txBody>
      </p:sp>
      <p:sp>
        <p:nvSpPr>
          <p:cNvPr id="6" name="Google Shape;114;p24">
            <a:extLst>
              <a:ext uri="{FF2B5EF4-FFF2-40B4-BE49-F238E27FC236}">
                <a16:creationId xmlns:a16="http://schemas.microsoft.com/office/drawing/2014/main" id="{AAD514EE-F0F4-8337-303A-7FFE81EEB717}"/>
              </a:ext>
            </a:extLst>
          </p:cNvPr>
          <p:cNvSpPr/>
          <p:nvPr/>
        </p:nvSpPr>
        <p:spPr>
          <a:xfrm>
            <a:off x="3235862" y="1021107"/>
            <a:ext cx="2455171" cy="1637819"/>
          </a:xfrm>
          <a:prstGeom prst="roundRect">
            <a:avLst>
              <a:gd name="adj" fmla="val 5000"/>
            </a:avLst>
          </a:prstGeom>
          <a:solidFill>
            <a:srgbClr val="F4F4F4">
              <a:alpha val="55309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bg1"/>
              </a:buClr>
            </a:pPr>
            <a:r>
              <a:rPr lang="en-US" sz="1050" b="1" u="sng" dirty="0">
                <a:solidFill>
                  <a:schemeClr val="lt1"/>
                </a:solidFill>
                <a:latin typeface="Calibri"/>
                <a:cs typeface="Calibri"/>
              </a:rPr>
              <a:t>Machine Learning &amp; AI</a:t>
            </a:r>
            <a:br>
              <a:rPr lang="en-US" sz="1050" b="1" u="sng" dirty="0">
                <a:solidFill>
                  <a:schemeClr val="lt1"/>
                </a:solidFill>
                <a:latin typeface="Calibri"/>
                <a:cs typeface="Calibri"/>
              </a:rPr>
            </a:br>
            <a:endParaRPr lang="en-US" sz="1050" b="1" u="sng" dirty="0">
              <a:solidFill>
                <a:schemeClr val="lt1"/>
              </a:solidFill>
              <a:latin typeface="Calibri"/>
              <a:cs typeface="Calibri"/>
            </a:endParaRPr>
          </a:p>
          <a:p>
            <a:pPr algn="ctr">
              <a:buClr>
                <a:schemeClr val="bg1"/>
              </a:buClr>
            </a:pPr>
            <a:r>
              <a:rPr lang="en-US" sz="1050" b="1" dirty="0">
                <a:solidFill>
                  <a:schemeClr val="lt1"/>
                </a:solidFill>
                <a:latin typeface="Calibri"/>
                <a:cs typeface="Calibri"/>
              </a:rPr>
              <a:t>•Random Forest – Growth &amp; popularity prediction</a:t>
            </a:r>
          </a:p>
          <a:p>
            <a:pPr algn="ctr">
              <a:buClr>
                <a:schemeClr val="bg1"/>
              </a:buClr>
            </a:pPr>
            <a:r>
              <a:rPr lang="en-US" sz="1050" b="1" dirty="0">
                <a:solidFill>
                  <a:schemeClr val="lt1"/>
                </a:solidFill>
                <a:latin typeface="Calibri"/>
                <a:cs typeface="Calibri"/>
              </a:rPr>
              <a:t>•LSTM (TensorFlow/</a:t>
            </a:r>
            <a:r>
              <a:rPr lang="en-US" sz="1050" b="1" dirty="0" err="1">
                <a:solidFill>
                  <a:schemeClr val="lt1"/>
                </a:solidFill>
                <a:latin typeface="Calibri"/>
                <a:cs typeface="Calibri"/>
              </a:rPr>
              <a:t>Keras</a:t>
            </a:r>
            <a:r>
              <a:rPr lang="en-US" sz="1050" b="1" dirty="0">
                <a:solidFill>
                  <a:schemeClr val="lt1"/>
                </a:solidFill>
                <a:latin typeface="Calibri"/>
                <a:cs typeface="Calibri"/>
              </a:rPr>
              <a:t>) – Demand forecasting &amp; trends</a:t>
            </a:r>
          </a:p>
          <a:p>
            <a:pPr algn="ctr">
              <a:buClr>
                <a:schemeClr val="bg1"/>
              </a:buClr>
            </a:pPr>
            <a:r>
              <a:rPr lang="en-US" sz="1050" b="1" dirty="0">
                <a:solidFill>
                  <a:schemeClr val="lt1"/>
                </a:solidFill>
                <a:latin typeface="Calibri"/>
                <a:cs typeface="Calibri"/>
              </a:rPr>
              <a:t>•Anomaly Detection – LSTM + statistical methods</a:t>
            </a:r>
          </a:p>
          <a:p>
            <a:pPr algn="ctr">
              <a:buClr>
                <a:schemeClr val="bg1"/>
              </a:buClr>
            </a:pPr>
            <a:r>
              <a:rPr lang="en-US" sz="1050" b="1" dirty="0">
                <a:solidFill>
                  <a:schemeClr val="lt1"/>
                </a:solidFill>
                <a:latin typeface="Calibri"/>
                <a:cs typeface="Calibri"/>
              </a:rPr>
              <a:t>•SHAP (XAI) – Model explainability &amp; transparency</a:t>
            </a:r>
          </a:p>
        </p:txBody>
      </p:sp>
      <p:sp>
        <p:nvSpPr>
          <p:cNvPr id="7" name="Google Shape;114;p24">
            <a:extLst>
              <a:ext uri="{FF2B5EF4-FFF2-40B4-BE49-F238E27FC236}">
                <a16:creationId xmlns:a16="http://schemas.microsoft.com/office/drawing/2014/main" id="{4B065B4A-8C75-FD46-3121-5E5224C7D023}"/>
              </a:ext>
            </a:extLst>
          </p:cNvPr>
          <p:cNvSpPr/>
          <p:nvPr/>
        </p:nvSpPr>
        <p:spPr>
          <a:xfrm>
            <a:off x="3232233" y="2821715"/>
            <a:ext cx="2458800" cy="1638000"/>
          </a:xfrm>
          <a:prstGeom prst="roundRect">
            <a:avLst>
              <a:gd name="adj" fmla="val 5000"/>
            </a:avLst>
          </a:prstGeom>
          <a:solidFill>
            <a:srgbClr val="F4F4F4">
              <a:alpha val="55309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bg1"/>
              </a:buClr>
            </a:pPr>
            <a:r>
              <a:rPr lang="en-US" sz="1100" b="1" u="sng" dirty="0">
                <a:solidFill>
                  <a:schemeClr val="lt1"/>
                </a:solidFill>
                <a:latin typeface="Calibri"/>
                <a:cs typeface="Calibri"/>
              </a:rPr>
              <a:t>AI &amp; NLP Systems</a:t>
            </a:r>
            <a:br>
              <a:rPr lang="en-US" sz="1100" b="1" u="sng" dirty="0">
                <a:solidFill>
                  <a:schemeClr val="lt1"/>
                </a:solidFill>
                <a:latin typeface="Calibri"/>
                <a:cs typeface="Calibri"/>
              </a:rPr>
            </a:br>
            <a:endParaRPr lang="en-US" sz="1100" b="1" u="sng" dirty="0">
              <a:solidFill>
                <a:schemeClr val="lt1"/>
              </a:solidFill>
              <a:latin typeface="Calibri"/>
              <a:cs typeface="Calibri"/>
            </a:endParaRPr>
          </a:p>
          <a:p>
            <a:pPr algn="ctr">
              <a:buClr>
                <a:schemeClr val="bg1"/>
              </a:buClr>
            </a:pPr>
            <a:r>
              <a:rPr lang="en-US" sz="1100" b="1" dirty="0">
                <a:solidFill>
                  <a:schemeClr val="lt1"/>
                </a:solidFill>
                <a:latin typeface="Calibri"/>
                <a:cs typeface="Calibri"/>
              </a:rPr>
              <a:t>• Agentic AI Copilot (decision support)</a:t>
            </a:r>
          </a:p>
          <a:p>
            <a:pPr algn="ctr">
              <a:buClr>
                <a:schemeClr val="bg1"/>
              </a:buClr>
            </a:pPr>
            <a:r>
              <a:rPr lang="en-US" sz="1100" b="1" dirty="0">
                <a:solidFill>
                  <a:schemeClr val="lt1"/>
                </a:solidFill>
                <a:latin typeface="Calibri"/>
                <a:cs typeface="Calibri"/>
              </a:rPr>
              <a:t>•DistilGPT-2 – AI-generated business insights</a:t>
            </a:r>
          </a:p>
          <a:p>
            <a:pPr algn="ctr">
              <a:buClr>
                <a:schemeClr val="bg1"/>
              </a:buClr>
            </a:pPr>
            <a:r>
              <a:rPr lang="en-US" sz="1100" b="1" dirty="0">
                <a:solidFill>
                  <a:schemeClr val="lt1"/>
                </a:solidFill>
                <a:latin typeface="Calibri"/>
                <a:cs typeface="Calibri"/>
              </a:rPr>
              <a:t>•Hybrid System – AI + rule-based validation</a:t>
            </a:r>
          </a:p>
        </p:txBody>
      </p:sp>
      <p:sp>
        <p:nvSpPr>
          <p:cNvPr id="8" name="Google Shape;114;p24">
            <a:extLst>
              <a:ext uri="{FF2B5EF4-FFF2-40B4-BE49-F238E27FC236}">
                <a16:creationId xmlns:a16="http://schemas.microsoft.com/office/drawing/2014/main" id="{7D109FC5-9F84-D083-CA37-6B7E3F8AEBD5}"/>
              </a:ext>
            </a:extLst>
          </p:cNvPr>
          <p:cNvSpPr/>
          <p:nvPr/>
        </p:nvSpPr>
        <p:spPr>
          <a:xfrm>
            <a:off x="5866243" y="1032660"/>
            <a:ext cx="2455200" cy="1638000"/>
          </a:xfrm>
          <a:prstGeom prst="roundRect">
            <a:avLst>
              <a:gd name="adj" fmla="val 5000"/>
            </a:avLst>
          </a:prstGeom>
          <a:solidFill>
            <a:srgbClr val="F4F4F4">
              <a:alpha val="55309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bg1"/>
              </a:buClr>
            </a:pPr>
            <a:r>
              <a:rPr lang="en-US" sz="1050" b="1" u="sng" dirty="0">
                <a:solidFill>
                  <a:schemeClr val="lt1"/>
                </a:solidFill>
                <a:latin typeface="Calibri"/>
                <a:cs typeface="Calibri"/>
              </a:rPr>
              <a:t>Data Engineering</a:t>
            </a:r>
            <a:br>
              <a:rPr lang="en-US" sz="1050" b="1" u="sng" dirty="0">
                <a:solidFill>
                  <a:schemeClr val="lt1"/>
                </a:solidFill>
                <a:latin typeface="Calibri"/>
                <a:cs typeface="Calibri"/>
              </a:rPr>
            </a:br>
            <a:endParaRPr lang="en-US" sz="1050" b="1" u="sng" dirty="0">
              <a:solidFill>
                <a:schemeClr val="lt1"/>
              </a:solidFill>
              <a:latin typeface="Calibri"/>
              <a:cs typeface="Calibri"/>
            </a:endParaRPr>
          </a:p>
          <a:p>
            <a:pPr algn="ctr">
              <a:buClr>
                <a:schemeClr val="bg1"/>
              </a:buClr>
            </a:pPr>
            <a:r>
              <a:rPr lang="en-US" sz="1050" b="1" dirty="0">
                <a:solidFill>
                  <a:schemeClr val="lt1"/>
                </a:solidFill>
                <a:latin typeface="Calibri"/>
                <a:cs typeface="Calibri"/>
              </a:rPr>
              <a:t>•Multi-source Data Integration</a:t>
            </a:r>
          </a:p>
          <a:p>
            <a:pPr algn="ctr">
              <a:buClr>
                <a:schemeClr val="bg1"/>
              </a:buClr>
            </a:pPr>
            <a:r>
              <a:rPr lang="en-US" sz="1050" b="1" dirty="0">
                <a:solidFill>
                  <a:schemeClr val="lt1"/>
                </a:solidFill>
                <a:latin typeface="Calibri"/>
                <a:cs typeface="Calibri"/>
              </a:rPr>
              <a:t>(Google Places, Trends, Geospatial, Rent Data)</a:t>
            </a:r>
          </a:p>
          <a:p>
            <a:pPr algn="ctr">
              <a:buClr>
                <a:schemeClr val="bg1"/>
              </a:buClr>
            </a:pPr>
            <a:r>
              <a:rPr lang="en-US" sz="1050" b="1" dirty="0">
                <a:solidFill>
                  <a:schemeClr val="lt1"/>
                </a:solidFill>
                <a:latin typeface="Calibri"/>
                <a:cs typeface="Calibri"/>
              </a:rPr>
              <a:t>•Sentiment Analysis (NLP) – Customer insights</a:t>
            </a:r>
          </a:p>
          <a:p>
            <a:pPr algn="ctr">
              <a:buClr>
                <a:schemeClr val="bg1"/>
              </a:buClr>
            </a:pPr>
            <a:r>
              <a:rPr lang="en-US" sz="1050" b="1" dirty="0">
                <a:solidFill>
                  <a:schemeClr val="lt1"/>
                </a:solidFill>
                <a:latin typeface="Calibri"/>
                <a:cs typeface="Calibri"/>
              </a:rPr>
              <a:t>•Feature Engineering &amp; Scoring Models</a:t>
            </a:r>
          </a:p>
        </p:txBody>
      </p:sp>
      <p:sp>
        <p:nvSpPr>
          <p:cNvPr id="9" name="Google Shape;114;p24">
            <a:extLst>
              <a:ext uri="{FF2B5EF4-FFF2-40B4-BE49-F238E27FC236}">
                <a16:creationId xmlns:a16="http://schemas.microsoft.com/office/drawing/2014/main" id="{5B20C623-DC5E-9351-5552-7A10624310AE}"/>
              </a:ext>
            </a:extLst>
          </p:cNvPr>
          <p:cNvSpPr/>
          <p:nvPr/>
        </p:nvSpPr>
        <p:spPr>
          <a:xfrm>
            <a:off x="5866243" y="2821896"/>
            <a:ext cx="2455171" cy="1637819"/>
          </a:xfrm>
          <a:prstGeom prst="roundRect">
            <a:avLst>
              <a:gd name="adj" fmla="val 5000"/>
            </a:avLst>
          </a:prstGeom>
          <a:solidFill>
            <a:srgbClr val="F4F4F4">
              <a:alpha val="55309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bg1"/>
              </a:buClr>
            </a:pPr>
            <a:r>
              <a:rPr lang="en-US" sz="1050" b="1" u="sng" dirty="0">
                <a:solidFill>
                  <a:schemeClr val="lt1"/>
                </a:solidFill>
                <a:latin typeface="Calibri"/>
                <a:cs typeface="Calibri"/>
              </a:rPr>
              <a:t>Storage &amp; Deployment</a:t>
            </a:r>
            <a:br>
              <a:rPr lang="en-US" sz="1050" b="1" u="sng" dirty="0">
                <a:solidFill>
                  <a:schemeClr val="lt1"/>
                </a:solidFill>
                <a:latin typeface="Calibri"/>
                <a:cs typeface="Calibri"/>
              </a:rPr>
            </a:br>
            <a:endParaRPr lang="en-US" sz="1050" b="1" u="sng" dirty="0">
              <a:solidFill>
                <a:schemeClr val="lt1"/>
              </a:solidFill>
              <a:latin typeface="Calibri"/>
              <a:cs typeface="Calibri"/>
            </a:endParaRPr>
          </a:p>
          <a:p>
            <a:pPr algn="ctr">
              <a:buClr>
                <a:schemeClr val="bg1"/>
              </a:buClr>
            </a:pPr>
            <a:r>
              <a:rPr lang="en-US" sz="1050" b="1" dirty="0">
                <a:solidFill>
                  <a:schemeClr val="lt1"/>
                </a:solidFill>
                <a:latin typeface="Calibri"/>
                <a:cs typeface="Calibri"/>
              </a:rPr>
              <a:t>•CSV Data Storage – Processed datasets</a:t>
            </a:r>
          </a:p>
          <a:p>
            <a:pPr algn="ctr">
              <a:buClr>
                <a:schemeClr val="bg1"/>
              </a:buClr>
            </a:pPr>
            <a:r>
              <a:rPr lang="en-US" sz="1050" b="1" dirty="0">
                <a:solidFill>
                  <a:schemeClr val="lt1"/>
                </a:solidFill>
                <a:latin typeface="Calibri"/>
                <a:cs typeface="Calibri"/>
              </a:rPr>
              <a:t>•Model Storage – Pickle / </a:t>
            </a:r>
            <a:r>
              <a:rPr lang="en-US" sz="1050" b="1" dirty="0" err="1">
                <a:solidFill>
                  <a:schemeClr val="lt1"/>
                </a:solidFill>
                <a:latin typeface="Calibri"/>
                <a:cs typeface="Calibri"/>
              </a:rPr>
              <a:t>Joblib</a:t>
            </a:r>
            <a:endParaRPr lang="en-US" sz="1050" b="1" dirty="0">
              <a:solidFill>
                <a:schemeClr val="lt1"/>
              </a:solidFill>
              <a:latin typeface="Calibri"/>
              <a:cs typeface="Calibri"/>
            </a:endParaRPr>
          </a:p>
          <a:p>
            <a:pPr algn="ctr">
              <a:buClr>
                <a:schemeClr val="bg1"/>
              </a:buClr>
            </a:pPr>
            <a:r>
              <a:rPr lang="en-US" sz="1050" b="1" dirty="0">
                <a:solidFill>
                  <a:schemeClr val="lt1"/>
                </a:solidFill>
                <a:latin typeface="Calibri"/>
                <a:cs typeface="Calibri"/>
              </a:rPr>
              <a:t>•Environment Config – Scalable deployment</a:t>
            </a:r>
          </a:p>
          <a:p>
            <a:pPr algn="ctr">
              <a:buClr>
                <a:schemeClr val="bg1"/>
              </a:buClr>
            </a:pPr>
            <a:r>
              <a:rPr lang="en-US" sz="1050" b="1" dirty="0">
                <a:solidFill>
                  <a:schemeClr val="lt1"/>
                </a:solidFill>
                <a:latin typeface="Calibri"/>
                <a:cs typeface="Calibri"/>
              </a:rPr>
              <a:t>•Lightweight AI Models – CPU-friendly</a:t>
            </a:r>
          </a:p>
        </p:txBody>
      </p:sp>
    </p:spTree>
    <p:extLst>
      <p:ext uri="{BB962C8B-B14F-4D97-AF65-F5344CB8AC3E}">
        <p14:creationId xmlns:p14="http://schemas.microsoft.com/office/powerpoint/2010/main" val="1058621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4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1" name="Google Shape;211;p4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2" name="Google Shape;212;p4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3" name="Google Shape;213;p4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4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5" name="Google Shape;215;p4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6" name="Google Shape;216;p4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7" name="Google Shape;217;p4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8" name="Google Shape;218;p4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9" name="Google Shape;219;p4"/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4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1" name="Google Shape;221;p4"/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2" name="Google Shape;222;p4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3" name="Google Shape;223;p4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4" name="Google Shape;224;p4"/>
          <p:cNvCxnSpPr/>
          <p:nvPr/>
        </p:nvCxnSpPr>
        <p:spPr>
          <a:xfrm>
            <a:off x="640080" y="292608"/>
            <a:ext cx="365760" cy="365760"/>
          </a:xfrm>
          <a:prstGeom prst="straightConnector1">
            <a:avLst/>
          </a:prstGeom>
          <a:solidFill>
            <a:srgbClr val="3B82F6">
              <a:alpha val="25098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25" name="Google Shape;225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329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"/>
          <p:cNvSpPr/>
          <p:nvPr/>
        </p:nvSpPr>
        <p:spPr>
          <a:xfrm>
            <a:off x="1097280" y="274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Quantified Decision Engine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1097280" y="5669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Key metrics for market intelligence and location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6858000" y="34747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 validated 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6858000" y="5669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94% accuracy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4"/>
          <p:cNvCxnSpPr/>
          <p:nvPr/>
        </p:nvCxnSpPr>
        <p:spPr>
          <a:xfrm>
            <a:off x="667510" y="914399"/>
            <a:ext cx="9145" cy="1400400"/>
          </a:xfrm>
          <a:prstGeom prst="straightConnector1">
            <a:avLst/>
          </a:prstGeom>
          <a:solidFill>
            <a:srgbClr val="3B82F6"/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1" name="Google Shape;23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8096" y="1005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4"/>
          <p:cNvSpPr/>
          <p:nvPr/>
        </p:nvSpPr>
        <p:spPr>
          <a:xfrm>
            <a:off x="1115568" y="10058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Popularity Score per Area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804672" y="13716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Rating  ×  log(Review Count)  →  True demand strength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9808" y="1828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"/>
          <p:cNvSpPr/>
          <p:nvPr/>
        </p:nvSpPr>
        <p:spPr>
          <a:xfrm>
            <a:off x="987552" y="181051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Captures true demand strength by weighting rating with review volume</a:t>
            </a:r>
            <a:endParaRPr/>
          </a:p>
        </p:txBody>
      </p:sp>
      <p:cxnSp>
        <p:nvCxnSpPr>
          <p:cNvPr id="236" name="Google Shape;236;p4"/>
          <p:cNvCxnSpPr/>
          <p:nvPr/>
        </p:nvCxnSpPr>
        <p:spPr>
          <a:xfrm flipH="1">
            <a:off x="4919460" y="914399"/>
            <a:ext cx="2" cy="1400400"/>
          </a:xfrm>
          <a:prstGeom prst="straightConnector1">
            <a:avLst/>
          </a:prstGeom>
          <a:solidFill>
            <a:srgbClr val="3B82F6"/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7" name="Google Shape;237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20056" y="1005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4"/>
          <p:cNvSpPr/>
          <p:nvPr/>
        </p:nvSpPr>
        <p:spPr>
          <a:xfrm>
            <a:off x="5367528" y="10058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Competition Index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5056632" y="13716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Café Density  +  Market Share  →  94% accuracy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1768" y="18288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"/>
          <p:cNvSpPr/>
          <p:nvPr/>
        </p:nvSpPr>
        <p:spPr>
          <a:xfrm>
            <a:off x="5239512" y="181051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Based on café density analysis, validated with 94% accuracy</a:t>
            </a:r>
            <a:endParaRPr/>
          </a:p>
        </p:txBody>
      </p:sp>
      <p:cxnSp>
        <p:nvCxnSpPr>
          <p:cNvPr id="242" name="Google Shape;242;p4"/>
          <p:cNvCxnSpPr/>
          <p:nvPr/>
        </p:nvCxnSpPr>
        <p:spPr>
          <a:xfrm>
            <a:off x="685800" y="2670047"/>
            <a:ext cx="0" cy="1444737"/>
          </a:xfrm>
          <a:prstGeom prst="straightConnector1">
            <a:avLst/>
          </a:prstGeom>
          <a:solidFill>
            <a:srgbClr val="3B82F6"/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43" name="Google Shape;243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8096" y="2697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"/>
          <p:cNvSpPr/>
          <p:nvPr/>
        </p:nvSpPr>
        <p:spPr>
          <a:xfrm>
            <a:off x="1115568" y="26974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Area Demand Score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804672" y="306324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Popularity  −  Competition  +  Tourism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9808" y="35204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"/>
          <p:cNvSpPr/>
          <p:nvPr/>
        </p:nvSpPr>
        <p:spPr>
          <a:xfrm>
            <a:off x="987552" y="350215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Identifies high-return locations by combining multiple factors</a:t>
            </a:r>
            <a:endParaRPr/>
          </a:p>
        </p:txBody>
      </p:sp>
      <p:cxnSp>
        <p:nvCxnSpPr>
          <p:cNvPr id="248" name="Google Shape;248;p4"/>
          <p:cNvCxnSpPr/>
          <p:nvPr/>
        </p:nvCxnSpPr>
        <p:spPr>
          <a:xfrm>
            <a:off x="4901184" y="2606038"/>
            <a:ext cx="9144" cy="1524745"/>
          </a:xfrm>
          <a:prstGeom prst="straightConnector1">
            <a:avLst/>
          </a:prstGeom>
          <a:solidFill>
            <a:srgbClr val="3B82F6"/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49" name="Google Shape;249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20056" y="2697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"/>
          <p:cNvSpPr/>
          <p:nvPr/>
        </p:nvSpPr>
        <p:spPr>
          <a:xfrm>
            <a:off x="5367528" y="26974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Trend Growth Rate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5056632" y="306324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Search Trends  ×  Weekly Data Points  →  260/week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1768" y="35204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"/>
          <p:cNvSpPr/>
          <p:nvPr/>
        </p:nvSpPr>
        <p:spPr>
          <a:xfrm>
            <a:off x="5239512" y="350215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Based on search trends with ~260 weekly data points per keyword</a:t>
            </a:r>
            <a:endParaRPr/>
          </a:p>
        </p:txBody>
      </p:sp>
      <p:pic>
        <p:nvPicPr>
          <p:cNvPr id="254" name="Google Shape;254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9808" y="442569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"/>
          <p:cNvSpPr/>
          <p:nvPr/>
        </p:nvSpPr>
        <p:spPr>
          <a:xfrm>
            <a:off x="1042416" y="441655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Validated Proxies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816352" y="44531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"/>
          <p:cNvSpPr/>
          <p:nvPr/>
        </p:nvSpPr>
        <p:spPr>
          <a:xfrm>
            <a:off x="3127248" y="438912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Footfall score correlation</a:t>
            </a:r>
            <a:endParaRPr/>
          </a:p>
        </p:txBody>
      </p:sp>
      <p:sp>
        <p:nvSpPr>
          <p:cNvPr id="258" name="Google Shape;258;p4"/>
          <p:cNvSpPr/>
          <p:nvPr/>
        </p:nvSpPr>
        <p:spPr>
          <a:xfrm>
            <a:off x="3127248" y="459943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r = 0.82 with real tourism data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16752" y="44531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"/>
          <p:cNvSpPr/>
          <p:nvPr/>
        </p:nvSpPr>
        <p:spPr>
          <a:xfrm>
            <a:off x="6327648" y="438912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Rent estimation error</a:t>
            </a:r>
            <a:endParaRPr/>
          </a:p>
        </p:txBody>
      </p:sp>
      <p:sp>
        <p:nvSpPr>
          <p:cNvPr id="261" name="Google Shape;261;p4"/>
          <p:cNvSpPr/>
          <p:nvPr/>
        </p:nvSpPr>
        <p:spPr>
          <a:xfrm>
            <a:off x="6327648" y="459943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~AED 12/sqm MAE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4"/>
          <p:cNvCxnSpPr/>
          <p:nvPr/>
        </p:nvCxnSpPr>
        <p:spPr>
          <a:xfrm rot="5400000" flipH="1">
            <a:off x="2605701" y="372997"/>
            <a:ext cx="13717" cy="3882305"/>
          </a:xfrm>
          <a:prstGeom prst="straightConnector1">
            <a:avLst/>
          </a:prstGeom>
          <a:solidFill>
            <a:srgbClr val="3B82F6"/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3" name="Google Shape;263;p4"/>
          <p:cNvCxnSpPr/>
          <p:nvPr/>
        </p:nvCxnSpPr>
        <p:spPr>
          <a:xfrm rot="5400000" flipH="1">
            <a:off x="6844613" y="372278"/>
            <a:ext cx="13717" cy="3882305"/>
          </a:xfrm>
          <a:prstGeom prst="straightConnector1">
            <a:avLst/>
          </a:prstGeom>
          <a:solidFill>
            <a:srgbClr val="3B82F6"/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4" name="Google Shape;264;p4"/>
          <p:cNvCxnSpPr/>
          <p:nvPr/>
        </p:nvCxnSpPr>
        <p:spPr>
          <a:xfrm rot="5400000" flipH="1">
            <a:off x="2620094" y="2175917"/>
            <a:ext cx="13717" cy="3882305"/>
          </a:xfrm>
          <a:prstGeom prst="straightConnector1">
            <a:avLst/>
          </a:prstGeom>
          <a:solidFill>
            <a:srgbClr val="3B82F6"/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5" name="Google Shape;265;p4"/>
          <p:cNvCxnSpPr/>
          <p:nvPr/>
        </p:nvCxnSpPr>
        <p:spPr>
          <a:xfrm rot="5400000" flipH="1">
            <a:off x="6840185" y="2191903"/>
            <a:ext cx="13717" cy="3882305"/>
          </a:xfrm>
          <a:prstGeom prst="straightConnector1">
            <a:avLst/>
          </a:prstGeom>
          <a:solidFill>
            <a:srgbClr val="3B82F6"/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1" name="Google Shape;271;p5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2" name="Google Shape;272;p5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3" name="Google Shape;273;p5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4" name="Google Shape;274;p5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5" name="Google Shape;275;p5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6" name="Google Shape;276;p5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7" name="Google Shape;277;p5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8" name="Google Shape;278;p5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9" name="Google Shape;279;p5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0" name="Google Shape;280;p5"/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1" name="Google Shape;281;p5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2" name="Google Shape;282;p5"/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3" name="Google Shape;283;p5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4" name="Google Shape;284;p5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5" name="Google Shape;285;p5"/>
          <p:cNvCxnSpPr/>
          <p:nvPr/>
        </p:nvCxnSpPr>
        <p:spPr>
          <a:xfrm>
            <a:off x="640080" y="292608"/>
            <a:ext cx="365760" cy="365760"/>
          </a:xfrm>
          <a:prstGeom prst="straightConnector1">
            <a:avLst/>
          </a:prstGeom>
          <a:solidFill>
            <a:srgbClr val="3B82F6">
              <a:alpha val="25098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86" name="Google Shape;28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329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5"/>
          <p:cNvSpPr/>
          <p:nvPr/>
        </p:nvSpPr>
        <p:spPr>
          <a:xfrm>
            <a:off x="1097280" y="2743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Models &amp; Measured Performance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5"/>
          <p:cNvSpPr/>
          <p:nvPr/>
        </p:nvSpPr>
        <p:spPr>
          <a:xfrm>
            <a:off x="1097280" y="5669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Growth classification and demand forecasting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5"/>
          <p:cNvSpPr/>
          <p:nvPr/>
        </p:nvSpPr>
        <p:spPr>
          <a:xfrm>
            <a:off x="1024128" y="1060049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Growth Classification (Random Forest)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"/>
          <p:cNvSpPr/>
          <p:nvPr/>
        </p:nvSpPr>
        <p:spPr>
          <a:xfrm>
            <a:off x="1078992" y="128015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609599" y="1598675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87%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609599" y="2001011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5"/>
          <p:cNvSpPr/>
          <p:nvPr/>
        </p:nvSpPr>
        <p:spPr>
          <a:xfrm>
            <a:off x="609599" y="2183891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↑ 2.3%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5"/>
          <p:cNvSpPr/>
          <p:nvPr/>
        </p:nvSpPr>
        <p:spPr>
          <a:xfrm>
            <a:off x="1871471" y="1598675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0.87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1871471" y="2001011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Weighted F1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1871471" y="2183891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↑ 0.05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5"/>
          <p:cNvSpPr/>
          <p:nvPr/>
        </p:nvSpPr>
        <p:spPr>
          <a:xfrm>
            <a:off x="3133343" y="1598675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87.2%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"/>
          <p:cNvSpPr/>
          <p:nvPr/>
        </p:nvSpPr>
        <p:spPr>
          <a:xfrm>
            <a:off x="3133343" y="2001011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Cross-validation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"/>
          <p:cNvSpPr/>
          <p:nvPr/>
        </p:nvSpPr>
        <p:spPr>
          <a:xfrm>
            <a:off x="3133343" y="2183891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↑ 1.8%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822960" y="246888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/>
          </a:p>
        </p:txBody>
      </p:sp>
      <p:sp>
        <p:nvSpPr>
          <p:cNvPr id="301" name="Google Shape;301;p5"/>
          <p:cNvSpPr/>
          <p:nvPr/>
        </p:nvSpPr>
        <p:spPr>
          <a:xfrm>
            <a:off x="3474720" y="2459736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81.2%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822960" y="286207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/>
          </a:p>
        </p:txBody>
      </p:sp>
      <p:sp>
        <p:nvSpPr>
          <p:cNvPr id="303" name="Google Shape;303;p5"/>
          <p:cNvSpPr/>
          <p:nvPr/>
        </p:nvSpPr>
        <p:spPr>
          <a:xfrm>
            <a:off x="3474720" y="285292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0.68 F1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5"/>
          <p:cNvSpPr/>
          <p:nvPr/>
        </p:nvSpPr>
        <p:spPr>
          <a:xfrm>
            <a:off x="768096" y="3273552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 Outperforms baseline models with 5.8% higher accuracy</a:t>
            </a:r>
            <a:endParaRPr/>
          </a:p>
        </p:txBody>
      </p:sp>
      <p:cxnSp>
        <p:nvCxnSpPr>
          <p:cNvPr id="305" name="Google Shape;305;p5"/>
          <p:cNvCxnSpPr/>
          <p:nvPr/>
        </p:nvCxnSpPr>
        <p:spPr>
          <a:xfrm>
            <a:off x="4754880" y="914400"/>
            <a:ext cx="9144" cy="2752344"/>
          </a:xfrm>
          <a:prstGeom prst="straightConnector1">
            <a:avLst/>
          </a:prstGeom>
          <a:solidFill>
            <a:srgbClr val="3B82F6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06" name="Google Shape;30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82896" y="10058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5"/>
          <p:cNvSpPr/>
          <p:nvPr/>
        </p:nvSpPr>
        <p:spPr>
          <a:xfrm>
            <a:off x="5285232" y="98755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Demand Forecasting (Holt's Model)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5"/>
          <p:cNvSpPr/>
          <p:nvPr/>
        </p:nvSpPr>
        <p:spPr>
          <a:xfrm>
            <a:off x="5285232" y="1280160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5"/>
          <p:cNvSpPr/>
          <p:nvPr/>
        </p:nvSpPr>
        <p:spPr>
          <a:xfrm>
            <a:off x="4882896" y="1591056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5.82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5"/>
          <p:cNvSpPr/>
          <p:nvPr/>
        </p:nvSpPr>
        <p:spPr>
          <a:xfrm>
            <a:off x="4882896" y="1993392"/>
            <a:ext cx="126187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5"/>
          <p:cNvSpPr/>
          <p:nvPr/>
        </p:nvSpPr>
        <p:spPr>
          <a:xfrm>
            <a:off x="4882896" y="2176272"/>
            <a:ext cx="126187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↓ 0.3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6208776" y="1591056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19.9%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5"/>
          <p:cNvSpPr/>
          <p:nvPr/>
        </p:nvSpPr>
        <p:spPr>
          <a:xfrm>
            <a:off x="6208776" y="1993392"/>
            <a:ext cx="126187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MAPE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5"/>
          <p:cNvSpPr/>
          <p:nvPr/>
        </p:nvSpPr>
        <p:spPr>
          <a:xfrm>
            <a:off x="6208776" y="2176272"/>
            <a:ext cx="126187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↓ 2.1%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5"/>
          <p:cNvSpPr/>
          <p:nvPr/>
        </p:nvSpPr>
        <p:spPr>
          <a:xfrm>
            <a:off x="7534656" y="1591056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7.2%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5"/>
          <p:cNvSpPr/>
          <p:nvPr/>
        </p:nvSpPr>
        <p:spPr>
          <a:xfrm>
            <a:off x="7534656" y="1993392"/>
            <a:ext cx="126187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Best Case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5"/>
          <p:cNvSpPr/>
          <p:nvPr/>
        </p:nvSpPr>
        <p:spPr>
          <a:xfrm>
            <a:off x="7534656" y="2176272"/>
            <a:ext cx="126187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Café near me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5"/>
          <p:cNvSpPr/>
          <p:nvPr/>
        </p:nvSpPr>
        <p:spPr>
          <a:xfrm>
            <a:off x="4974336" y="2514600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"Café near me" → 7.2% MAPE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5"/>
          <p:cNvSpPr/>
          <p:nvPr/>
        </p:nvSpPr>
        <p:spPr>
          <a:xfrm>
            <a:off x="7315200" y="25146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Best performing keyword</a:t>
            </a:r>
            <a:endParaRPr/>
          </a:p>
        </p:txBody>
      </p:sp>
      <p:sp>
        <p:nvSpPr>
          <p:cNvPr id="320" name="Google Shape;320;p5"/>
          <p:cNvSpPr/>
          <p:nvPr/>
        </p:nvSpPr>
        <p:spPr>
          <a:xfrm>
            <a:off x="4974336" y="277977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6-month forecast with 92% confidence interval</a:t>
            </a:r>
            <a:endParaRPr/>
          </a:p>
        </p:txBody>
      </p:sp>
      <p:sp>
        <p:nvSpPr>
          <p:cNvPr id="321" name="Google Shape;321;p5"/>
          <p:cNvSpPr/>
          <p:nvPr/>
        </p:nvSpPr>
        <p:spPr>
          <a:xfrm>
            <a:off x="777240" y="382219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Key Insight Drivers (SHAP Analysis)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9536" y="4206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5"/>
          <p:cNvSpPr/>
          <p:nvPr/>
        </p:nvSpPr>
        <p:spPr>
          <a:xfrm>
            <a:off x="1188720" y="418795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Sentiment Mean</a:t>
            </a:r>
            <a:endParaRPr/>
          </a:p>
        </p:txBody>
      </p:sp>
      <p:sp>
        <p:nvSpPr>
          <p:cNvPr id="324" name="Google Shape;324;p5"/>
          <p:cNvSpPr/>
          <p:nvPr/>
        </p:nvSpPr>
        <p:spPr>
          <a:xfrm>
            <a:off x="1188720" y="43891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0.222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75888" y="4206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5"/>
          <p:cNvSpPr/>
          <p:nvPr/>
        </p:nvSpPr>
        <p:spPr>
          <a:xfrm>
            <a:off x="4005072" y="418795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Positive Review Ratio</a:t>
            </a:r>
            <a:endParaRPr/>
          </a:p>
        </p:txBody>
      </p:sp>
      <p:sp>
        <p:nvSpPr>
          <p:cNvPr id="327" name="Google Shape;327;p5"/>
          <p:cNvSpPr/>
          <p:nvPr/>
        </p:nvSpPr>
        <p:spPr>
          <a:xfrm>
            <a:off x="4005072" y="43891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0.159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92240" y="4206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5"/>
          <p:cNvSpPr/>
          <p:nvPr/>
        </p:nvSpPr>
        <p:spPr>
          <a:xfrm>
            <a:off x="6821424" y="418795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Review Volume</a:t>
            </a:r>
            <a:endParaRPr/>
          </a:p>
        </p:txBody>
      </p:sp>
      <p:sp>
        <p:nvSpPr>
          <p:cNvPr id="330" name="Google Shape;330;p5"/>
          <p:cNvSpPr/>
          <p:nvPr/>
        </p:nvSpPr>
        <p:spPr>
          <a:xfrm>
            <a:off x="6821424" y="43891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0.140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5"/>
          <p:cNvSpPr/>
          <p:nvPr/>
        </p:nvSpPr>
        <p:spPr>
          <a:xfrm>
            <a:off x="641604" y="1539238"/>
            <a:ext cx="1142997" cy="84124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5"/>
          <p:cNvSpPr/>
          <p:nvPr/>
        </p:nvSpPr>
        <p:spPr>
          <a:xfrm>
            <a:off x="1917194" y="1543810"/>
            <a:ext cx="1142997" cy="84124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5"/>
          <p:cNvSpPr/>
          <p:nvPr/>
        </p:nvSpPr>
        <p:spPr>
          <a:xfrm>
            <a:off x="3176849" y="1543809"/>
            <a:ext cx="1142997" cy="84124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1060704"/>
            <a:ext cx="320400" cy="3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"/>
          <p:cNvSpPr/>
          <p:nvPr/>
        </p:nvSpPr>
        <p:spPr>
          <a:xfrm>
            <a:off x="4990408" y="1549908"/>
            <a:ext cx="1084260" cy="82753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5"/>
          <p:cNvSpPr/>
          <p:nvPr/>
        </p:nvSpPr>
        <p:spPr>
          <a:xfrm>
            <a:off x="6288028" y="1551432"/>
            <a:ext cx="1084260" cy="826008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5"/>
          <p:cNvSpPr/>
          <p:nvPr/>
        </p:nvSpPr>
        <p:spPr>
          <a:xfrm>
            <a:off x="7577331" y="1549922"/>
            <a:ext cx="1142997" cy="84124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5"/>
          <p:cNvSpPr/>
          <p:nvPr/>
        </p:nvSpPr>
        <p:spPr>
          <a:xfrm>
            <a:off x="4715263" y="3273552"/>
            <a:ext cx="160019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Performance : 4.3/5 rating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4" name="Google Shape;344;p6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5" name="Google Shape;345;p6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" name="Google Shape;346;p6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" name="Google Shape;347;p6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8" name="Google Shape;348;p6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9" name="Google Shape;349;p6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0" name="Google Shape;350;p6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1" name="Google Shape;351;p6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2" name="Google Shape;352;p6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3" name="Google Shape;353;p6"/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4" name="Google Shape;354;p6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5" name="Google Shape;355;p6"/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6" name="Google Shape;356;p6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7" name="Google Shape;357;p6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8" name="Google Shape;358;p6"/>
          <p:cNvCxnSpPr/>
          <p:nvPr/>
        </p:nvCxnSpPr>
        <p:spPr>
          <a:xfrm>
            <a:off x="640080" y="292608"/>
            <a:ext cx="365760" cy="365760"/>
          </a:xfrm>
          <a:prstGeom prst="straightConnector1">
            <a:avLst/>
          </a:prstGeom>
          <a:solidFill>
            <a:srgbClr val="3B82F6">
              <a:alpha val="25098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59" name="Google Shape;359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329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6"/>
          <p:cNvSpPr/>
          <p:nvPr/>
        </p:nvSpPr>
        <p:spPr>
          <a:xfrm>
            <a:off x="1097280" y="274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Results, Impact &amp; Investor Value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1097280" y="5669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System validation, business impact, and competitive advantages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6"/>
          <p:cNvSpPr/>
          <p:nvPr/>
        </p:nvSpPr>
        <p:spPr>
          <a:xfrm>
            <a:off x="777240" y="97840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✓  System Validation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0392" y="13624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6"/>
          <p:cNvSpPr/>
          <p:nvPr/>
        </p:nvSpPr>
        <p:spPr>
          <a:xfrm>
            <a:off x="1133856" y="134416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Café managers rated explanations 4.3/5 for decision usefulness</a:t>
            </a:r>
            <a:endParaRPr/>
          </a:p>
        </p:txBody>
      </p:sp>
      <p:sp>
        <p:nvSpPr>
          <p:cNvPr id="365" name="Google Shape;365;p6"/>
          <p:cNvSpPr/>
          <p:nvPr/>
        </p:nvSpPr>
        <p:spPr>
          <a:xfrm>
            <a:off x="3621024" y="1344168"/>
            <a:ext cx="64922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4.3/5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0392" y="17647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6"/>
          <p:cNvSpPr/>
          <p:nvPr/>
        </p:nvSpPr>
        <p:spPr>
          <a:xfrm>
            <a:off x="1133856" y="174650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Narrative generation &lt;200ms latency (CPU)</a:t>
            </a:r>
            <a:endParaRPr/>
          </a:p>
        </p:txBody>
      </p:sp>
      <p:sp>
        <p:nvSpPr>
          <p:cNvPr id="368" name="Google Shape;368;p6"/>
          <p:cNvSpPr/>
          <p:nvPr/>
        </p:nvSpPr>
        <p:spPr>
          <a:xfrm>
            <a:off x="3621025" y="1746504"/>
            <a:ext cx="64922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&lt;200ms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0392" y="21671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6"/>
          <p:cNvSpPr/>
          <p:nvPr/>
        </p:nvSpPr>
        <p:spPr>
          <a:xfrm>
            <a:off x="1133856" y="21488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Template fallback &lt;50ms latency</a:t>
            </a:r>
            <a:endParaRPr/>
          </a:p>
        </p:txBody>
      </p:sp>
      <p:sp>
        <p:nvSpPr>
          <p:cNvPr id="371" name="Google Shape;371;p6"/>
          <p:cNvSpPr/>
          <p:nvPr/>
        </p:nvSpPr>
        <p:spPr>
          <a:xfrm>
            <a:off x="3621024" y="2148840"/>
            <a:ext cx="64922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&lt;50ms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6"/>
          <p:cNvSpPr/>
          <p:nvPr/>
        </p:nvSpPr>
        <p:spPr>
          <a:xfrm>
            <a:off x="4892040" y="9784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🎯  Business Impact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65192" y="14081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6"/>
          <p:cNvSpPr/>
          <p:nvPr/>
        </p:nvSpPr>
        <p:spPr>
          <a:xfrm>
            <a:off x="5239512" y="135331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High-demand locations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6"/>
          <p:cNvSpPr/>
          <p:nvPr/>
        </p:nvSpPr>
        <p:spPr>
          <a:xfrm>
            <a:off x="5239512" y="156362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 low-competition areas</a:t>
            </a:r>
            <a:endParaRPr/>
          </a:p>
        </p:txBody>
      </p:sp>
      <p:pic>
        <p:nvPicPr>
          <p:cNvPr id="376" name="Google Shape;376;p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31152" y="14081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6"/>
          <p:cNvSpPr/>
          <p:nvPr/>
        </p:nvSpPr>
        <p:spPr>
          <a:xfrm>
            <a:off x="7205472" y="135331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Emerging trends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6"/>
          <p:cNvSpPr/>
          <p:nvPr/>
        </p:nvSpPr>
        <p:spPr>
          <a:xfrm>
            <a:off x="7205472" y="156362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Matcha, cold brew spotting</a:t>
            </a:r>
            <a:endParaRPr/>
          </a:p>
        </p:txBody>
      </p:sp>
      <p:pic>
        <p:nvPicPr>
          <p:cNvPr id="379" name="Google Shape;379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65192" y="20299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6"/>
          <p:cNvSpPr/>
          <p:nvPr/>
        </p:nvSpPr>
        <p:spPr>
          <a:xfrm>
            <a:off x="5239512" y="197510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Risk reduction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6"/>
          <p:cNvSpPr/>
          <p:nvPr/>
        </p:nvSpPr>
        <p:spPr>
          <a:xfrm>
            <a:off x="5239512" y="218541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Site selection security</a:t>
            </a:r>
            <a:endParaRPr/>
          </a:p>
        </p:txBody>
      </p:sp>
      <p:pic>
        <p:nvPicPr>
          <p:cNvPr id="382" name="Google Shape;382;p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31152" y="20299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6"/>
          <p:cNvSpPr/>
          <p:nvPr/>
        </p:nvSpPr>
        <p:spPr>
          <a:xfrm>
            <a:off x="7205472" y="197510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 sz="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Consultant independence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6"/>
          <p:cNvSpPr/>
          <p:nvPr/>
        </p:nvSpPr>
        <p:spPr>
          <a:xfrm>
            <a:off x="7205472" y="218541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Reduce dependence</a:t>
            </a:r>
            <a:endParaRPr/>
          </a:p>
        </p:txBody>
      </p:sp>
      <p:sp>
        <p:nvSpPr>
          <p:cNvPr id="385" name="Google Shape;385;p6"/>
          <p:cNvSpPr/>
          <p:nvPr/>
        </p:nvSpPr>
        <p:spPr>
          <a:xfrm>
            <a:off x="768096" y="287121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🏆  Competitive Advantage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p6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8680" y="321868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6"/>
          <p:cNvSpPr/>
          <p:nvPr/>
        </p:nvSpPr>
        <p:spPr>
          <a:xfrm>
            <a:off x="1234440" y="318211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Explainable AI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6"/>
          <p:cNvSpPr/>
          <p:nvPr/>
        </p:nvSpPr>
        <p:spPr>
          <a:xfrm>
            <a:off x="1234440" y="338328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SHAP transparent decisions</a:t>
            </a:r>
            <a:endParaRPr/>
          </a:p>
        </p:txBody>
      </p:sp>
      <p:pic>
        <p:nvPicPr>
          <p:cNvPr id="389" name="Google Shape;389;p6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685032" y="321868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6"/>
          <p:cNvSpPr/>
          <p:nvPr/>
        </p:nvSpPr>
        <p:spPr>
          <a:xfrm>
            <a:off x="4050792" y="318211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Agent-based monitoring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6"/>
          <p:cNvSpPr/>
          <p:nvPr/>
        </p:nvSpPr>
        <p:spPr>
          <a:xfrm>
            <a:off x="4050792" y="338328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Real-time insights</a:t>
            </a:r>
            <a:endParaRPr/>
          </a:p>
        </p:txBody>
      </p:sp>
      <p:pic>
        <p:nvPicPr>
          <p:cNvPr id="392" name="Google Shape;392;p6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501384" y="321868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6"/>
          <p:cNvSpPr/>
          <p:nvPr/>
        </p:nvSpPr>
        <p:spPr>
          <a:xfrm>
            <a:off x="6867144" y="318211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Café-specific metrics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6"/>
          <p:cNvSpPr/>
          <p:nvPr/>
        </p:nvSpPr>
        <p:spPr>
          <a:xfrm>
            <a:off x="6867144" y="338328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Calibri"/>
              <a:buNone/>
            </a:pPr>
            <a:r>
              <a:rPr lang="en-US" sz="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Domain precision</a:t>
            </a:r>
            <a:endParaRPr/>
          </a:p>
        </p:txBody>
      </p:sp>
      <p:pic>
        <p:nvPicPr>
          <p:cNvPr id="395" name="Google Shape;395;p6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77240" y="404164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6"/>
          <p:cNvSpPr/>
          <p:nvPr/>
        </p:nvSpPr>
        <p:spPr>
          <a:xfrm>
            <a:off x="1280160" y="3931920"/>
            <a:ext cx="6217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TrendHive transforms 563K+ data points into actionable investment decisions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6"/>
          <p:cNvSpPr/>
          <p:nvPr/>
        </p:nvSpPr>
        <p:spPr>
          <a:xfrm>
            <a:off x="1280160" y="4279392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Calibri"/>
              <a:buNone/>
            </a:pPr>
            <a:r>
              <a:rPr lang="en-US" sz="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Enables SMEs to compete in a $3.2B market with enterprise-level intelligence</a:t>
            </a:r>
            <a:endParaRPr/>
          </a:p>
        </p:txBody>
      </p:sp>
      <p:sp>
        <p:nvSpPr>
          <p:cNvPr id="398" name="Google Shape;398;p6"/>
          <p:cNvSpPr/>
          <p:nvPr/>
        </p:nvSpPr>
        <p:spPr>
          <a:xfrm>
            <a:off x="6720840" y="4023360"/>
            <a:ext cx="10789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563K+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6"/>
          <p:cNvSpPr/>
          <p:nvPr/>
        </p:nvSpPr>
        <p:spPr>
          <a:xfrm>
            <a:off x="6720840" y="4425696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Points</a:t>
            </a:r>
            <a:endParaRPr/>
          </a:p>
        </p:txBody>
      </p:sp>
      <p:sp>
        <p:nvSpPr>
          <p:cNvPr id="400" name="Google Shape;400;p6"/>
          <p:cNvSpPr/>
          <p:nvPr/>
        </p:nvSpPr>
        <p:spPr>
          <a:xfrm>
            <a:off x="7909560" y="4023360"/>
            <a:ext cx="10789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$3.2B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6"/>
          <p:cNvSpPr/>
          <p:nvPr/>
        </p:nvSpPr>
        <p:spPr>
          <a:xfrm>
            <a:off x="7909560" y="4425696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Market Size</a:t>
            </a:r>
            <a:endParaRPr/>
          </a:p>
        </p:txBody>
      </p:sp>
      <p:cxnSp>
        <p:nvCxnSpPr>
          <p:cNvPr id="402" name="Google Shape;402;p6"/>
          <p:cNvCxnSpPr/>
          <p:nvPr/>
        </p:nvCxnSpPr>
        <p:spPr>
          <a:xfrm>
            <a:off x="4626864" y="914402"/>
            <a:ext cx="9144" cy="1920238"/>
          </a:xfrm>
          <a:prstGeom prst="straightConnector1">
            <a:avLst/>
          </a:prstGeom>
          <a:solidFill>
            <a:srgbClr val="3B82F6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2" name="Google Shape;432;p8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3" name="Google Shape;433;p8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4" name="Google Shape;434;p8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5" name="Google Shape;435;p8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6" name="Google Shape;436;p8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7" name="Google Shape;437;p8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8" name="Google Shape;438;p8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9" name="Google Shape;439;p8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0" name="Google Shape;440;p8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1" name="Google Shape;441;p8"/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2" name="Google Shape;442;p8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3" name="Google Shape;443;p8"/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4" name="Google Shape;444;p8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5" name="Google Shape;445;p8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3137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6" name="Google Shape;446;p8"/>
          <p:cNvCxnSpPr/>
          <p:nvPr/>
        </p:nvCxnSpPr>
        <p:spPr>
          <a:xfrm>
            <a:off x="-914400" y="2286000"/>
            <a:ext cx="3657600" cy="3657600"/>
          </a:xfrm>
          <a:prstGeom prst="straightConnector1">
            <a:avLst/>
          </a:prstGeom>
          <a:solidFill>
            <a:srgbClr val="3B82F6">
              <a:alpha val="7058"/>
            </a:srgbClr>
          </a:solidFill>
          <a:ln w="12700" cap="flat" cmpd="sng">
            <a:solidFill>
              <a:srgbClr val="3B82F6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7" name="Google Shape;447;p8"/>
          <p:cNvCxnSpPr/>
          <p:nvPr/>
        </p:nvCxnSpPr>
        <p:spPr>
          <a:xfrm>
            <a:off x="6858000" y="-914400"/>
            <a:ext cx="3657600" cy="3657600"/>
          </a:xfrm>
          <a:prstGeom prst="straightConnector1">
            <a:avLst/>
          </a:prstGeom>
          <a:solidFill>
            <a:srgbClr val="3B82F6">
              <a:alpha val="7058"/>
            </a:srgbClr>
          </a:solidFill>
          <a:ln w="12700" cap="flat" cmpd="sng">
            <a:solidFill>
              <a:srgbClr val="3B82F6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8" name="Google Shape;448;p8"/>
          <p:cNvSpPr txBox="1"/>
          <p:nvPr/>
        </p:nvSpPr>
        <p:spPr>
          <a:xfrm>
            <a:off x="3788488" y="2138038"/>
            <a:ext cx="2207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449" name="Google Shape;449;p8"/>
          <p:cNvSpPr txBox="1"/>
          <p:nvPr/>
        </p:nvSpPr>
        <p:spPr>
          <a:xfrm>
            <a:off x="4083774" y="2701499"/>
            <a:ext cx="885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979</Words>
  <Application>Microsoft Office PowerPoint</Application>
  <PresentationFormat>On-screen Show (16:9)</PresentationFormat>
  <Paragraphs>194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nathan mathew</cp:lastModifiedBy>
  <cp:revision>3</cp:revision>
  <dcterms:created xsi:type="dcterms:W3CDTF">2026-04-13T16:26:31Z</dcterms:created>
  <dcterms:modified xsi:type="dcterms:W3CDTF">2026-04-15T10:41:05Z</dcterms:modified>
</cp:coreProperties>
</file>