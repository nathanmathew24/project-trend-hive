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2A1D"/>
    <a:srgbClr val="0543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7"/>
    <p:restoredTop sz="94610"/>
  </p:normalViewPr>
  <p:slideViewPr>
    <p:cSldViewPr snapToGrid="0" snapToObjects="1">
      <p:cViewPr>
        <p:scale>
          <a:sx n="140" d="100"/>
          <a:sy n="140" d="100"/>
        </p:scale>
        <p:origin x="864" y="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5387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7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6.png"/><Relationship Id="rId5" Type="http://schemas.openxmlformats.org/officeDocument/2006/relationships/image" Target="../media/image12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4.png"/><Relationship Id="rId5" Type="http://schemas.openxmlformats.org/officeDocument/2006/relationships/image" Target="../media/image19.png"/><Relationship Id="rId10" Type="http://schemas.openxmlformats.org/officeDocument/2006/relationships/image" Target="../media/image23.png"/><Relationship Id="rId4" Type="http://schemas.openxmlformats.org/officeDocument/2006/relationships/image" Target="../media/image18.png"/><Relationship Id="rId9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7.png"/><Relationship Id="rId3" Type="http://schemas.openxmlformats.org/officeDocument/2006/relationships/image" Target="../media/image4.png"/><Relationship Id="rId7" Type="http://schemas.openxmlformats.org/officeDocument/2006/relationships/image" Target="../media/image21.png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8.png"/><Relationship Id="rId5" Type="http://schemas.openxmlformats.org/officeDocument/2006/relationships/image" Target="../media/image28.png"/><Relationship Id="rId10" Type="http://schemas.openxmlformats.org/officeDocument/2006/relationships/image" Target="../media/image6.png"/><Relationship Id="rId4" Type="http://schemas.openxmlformats.org/officeDocument/2006/relationships/image" Target="../media/image20.png"/><Relationship Id="rId9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201168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Shape 2"/>
          <p:cNvSpPr/>
          <p:nvPr/>
        </p:nvSpPr>
        <p:spPr>
          <a:xfrm>
            <a:off x="301752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" name="Shape 3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Shape 4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Shape 5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Shape 6"/>
          <p:cNvSpPr/>
          <p:nvPr/>
        </p:nvSpPr>
        <p:spPr>
          <a:xfrm>
            <a:off x="704088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Shape 7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Shape 8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Shape 9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" name="Shape 10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" name="Shape 11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Shape 1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" name="Shape 13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6" name="Shape 14"/>
          <p:cNvSpPr/>
          <p:nvPr/>
        </p:nvSpPr>
        <p:spPr>
          <a:xfrm>
            <a:off x="5029200" y="-1371600"/>
            <a:ext cx="4572000" cy="4572000"/>
          </a:xfrm>
          <a:prstGeom prst="line">
            <a:avLst/>
          </a:prstGeom>
          <a:solidFill>
            <a:srgbClr val="3B82F6">
              <a:alpha val="7000"/>
            </a:srgbClr>
          </a:solidFill>
          <a:ln w="12700">
            <a:solidFill>
              <a:srgbClr val="3B82F6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7" name="Shape 15"/>
          <p:cNvSpPr/>
          <p:nvPr/>
        </p:nvSpPr>
        <p:spPr>
          <a:xfrm>
            <a:off x="-1371600" y="3200400"/>
            <a:ext cx="3657600" cy="3657600"/>
          </a:xfrm>
          <a:prstGeom prst="line">
            <a:avLst/>
          </a:prstGeom>
          <a:solidFill>
            <a:srgbClr val="8B5CF6">
              <a:alpha val="5000"/>
            </a:srgbClr>
          </a:solidFill>
          <a:ln w="12700">
            <a:solidFill>
              <a:srgbClr val="8B5CF6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8" name="Shape 16"/>
          <p:cNvSpPr/>
          <p:nvPr/>
        </p:nvSpPr>
        <p:spPr>
          <a:xfrm>
            <a:off x="640080" y="914400"/>
            <a:ext cx="2377440" cy="320040"/>
          </a:xfrm>
          <a:prstGeom prst="line">
            <a:avLst>
              <a:gd name="adj" fmla="val 51429"/>
            </a:avLst>
          </a:prstGeom>
          <a:solidFill>
            <a:srgbClr val="3B82F6">
              <a:alpha val="13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FA46529A-E8F4-CCB7-02ED-DE306BFE3C02}"/>
              </a:ext>
            </a:extLst>
          </p:cNvPr>
          <p:cNvSpPr/>
          <p:nvPr/>
        </p:nvSpPr>
        <p:spPr>
          <a:xfrm>
            <a:off x="109728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01BA1EE-7B2B-4D92-DFFF-26B66D7F4E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81" y="966977"/>
            <a:ext cx="5499100" cy="3213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3" name="Shape 1"/>
          <p:cNvSpPr/>
          <p:nvPr/>
        </p:nvSpPr>
        <p:spPr>
          <a:xfrm>
            <a:off x="201168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Shape 2"/>
          <p:cNvSpPr/>
          <p:nvPr/>
        </p:nvSpPr>
        <p:spPr>
          <a:xfrm>
            <a:off x="301752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" name="Shape 3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Shape 4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Shape 5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Shape 6"/>
          <p:cNvSpPr/>
          <p:nvPr/>
        </p:nvSpPr>
        <p:spPr>
          <a:xfrm>
            <a:off x="704088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Shape 7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Shape 8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Shape 9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" name="Shape 10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" name="Shape 11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Shape 1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" name="Shape 13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6" name="Shape 14"/>
          <p:cNvSpPr/>
          <p:nvPr/>
        </p:nvSpPr>
        <p:spPr>
          <a:xfrm>
            <a:off x="640080" y="292608"/>
            <a:ext cx="365760" cy="365760"/>
          </a:xfrm>
          <a:prstGeom prst="lin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29184"/>
            <a:ext cx="256032" cy="25603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09728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Size &amp; Problem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097280" y="5669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Dubai café market analysis and SME challenges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520427" y="2288489"/>
            <a:ext cx="1257295" cy="187448"/>
          </a:xfrm>
          <a:prstGeom prst="rect">
            <a:avLst/>
          </a:prstGeom>
          <a:noFill/>
          <a:ln w="12700">
            <a:solidFill>
              <a:srgbClr val="22C55E">
                <a:alpha val="40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  Market Size</a:t>
            </a:r>
          </a:p>
        </p:txBody>
      </p:sp>
      <p:sp>
        <p:nvSpPr>
          <p:cNvPr id="26" name="Text 22"/>
          <p:cNvSpPr/>
          <p:nvPr/>
        </p:nvSpPr>
        <p:spPr>
          <a:xfrm>
            <a:off x="502921" y="2552611"/>
            <a:ext cx="1508754" cy="383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$3.2B</a:t>
            </a:r>
            <a:endParaRPr lang="en-US" sz="2800" dirty="0"/>
          </a:p>
        </p:txBody>
      </p:sp>
      <p:sp>
        <p:nvSpPr>
          <p:cNvPr id="27" name="Text 23"/>
          <p:cNvSpPr/>
          <p:nvPr/>
        </p:nvSpPr>
        <p:spPr>
          <a:xfrm>
            <a:off x="502921" y="2991523"/>
            <a:ext cx="1508754" cy="18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</a:rPr>
              <a:t>Industry value  ↑ 8%</a:t>
            </a:r>
          </a:p>
        </p:txBody>
      </p:sp>
      <p:sp>
        <p:nvSpPr>
          <p:cNvPr id="29" name="Shape 25"/>
          <p:cNvSpPr/>
          <p:nvPr/>
        </p:nvSpPr>
        <p:spPr>
          <a:xfrm flipH="1">
            <a:off x="2212067" y="2260004"/>
            <a:ext cx="4908" cy="877597"/>
          </a:xfrm>
          <a:prstGeom prst="line">
            <a:avLst/>
          </a:prstGeom>
          <a:solidFill>
            <a:srgbClr val="3B82F6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601" y="2333155"/>
            <a:ext cx="238570" cy="23857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2897866" y="2360589"/>
            <a:ext cx="1257295" cy="18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Total Cafés</a:t>
            </a:r>
          </a:p>
        </p:txBody>
      </p:sp>
      <p:sp>
        <p:nvSpPr>
          <p:cNvPr id="32" name="Text 27"/>
          <p:cNvSpPr/>
          <p:nvPr/>
        </p:nvSpPr>
        <p:spPr>
          <a:xfrm>
            <a:off x="2514601" y="2552611"/>
            <a:ext cx="1508754" cy="383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4,800+</a:t>
            </a:r>
            <a:endParaRPr lang="en-US" sz="2800" dirty="0"/>
          </a:p>
        </p:txBody>
      </p:sp>
      <p:sp>
        <p:nvSpPr>
          <p:cNvPr id="33" name="Text 28"/>
          <p:cNvSpPr/>
          <p:nvPr/>
        </p:nvSpPr>
        <p:spPr>
          <a:xfrm>
            <a:off x="2514601" y="2991523"/>
            <a:ext cx="1508754" cy="18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</a:rPr>
              <a:t>Highly saturated  ↑ 5%</a:t>
            </a:r>
          </a:p>
        </p:txBody>
      </p:sp>
      <p:sp>
        <p:nvSpPr>
          <p:cNvPr id="35" name="Text 30"/>
          <p:cNvSpPr/>
          <p:nvPr/>
        </p:nvSpPr>
        <p:spPr>
          <a:xfrm>
            <a:off x="594369" y="3316983"/>
            <a:ext cx="2423150" cy="205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⚠  SMEs Struggle With</a:t>
            </a:r>
            <a:endParaRPr lang="en-US" sz="1100" dirty="0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675887"/>
            <a:ext cx="152312" cy="152312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822960" y="3666743"/>
            <a:ext cx="2423150" cy="19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</a:rPr>
              <a:t>No access to advanced analytics</a:t>
            </a:r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4059935"/>
            <a:ext cx="152312" cy="152312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822960" y="4050791"/>
            <a:ext cx="2423150" cy="19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</a:rPr>
              <a:t>Fragmented data (reviews, tourism, competitors)</a:t>
            </a:r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4443983"/>
            <a:ext cx="152312" cy="152312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822960" y="4434839"/>
            <a:ext cx="2423150" cy="19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</a:rPr>
              <a:t>Reliance on intuition instead of data</a:t>
            </a:r>
          </a:p>
        </p:txBody>
      </p:sp>
      <p:sp>
        <p:nvSpPr>
          <p:cNvPr id="46" name="Text 38"/>
          <p:cNvSpPr/>
          <p:nvPr/>
        </p:nvSpPr>
        <p:spPr>
          <a:xfrm>
            <a:off x="5074920" y="960119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</a:rPr>
              <a:t>⬡  Data Integration Challenges</a:t>
            </a:r>
            <a:endParaRPr lang="en-US" sz="1100" dirty="0">
              <a:solidFill>
                <a:schemeClr val="bg1"/>
              </a:solidFill>
            </a:endParaRPr>
          </a:p>
        </p:txBody>
      </p:sp>
      <p:pic>
        <p:nvPicPr>
          <p:cNvPr id="4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66360" y="1389887"/>
            <a:ext cx="256032" cy="256032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5513832" y="1325879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1"/>
                </a:solidFill>
              </a:rPr>
              <a:t>Multi-source data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0" name="Text 41"/>
          <p:cNvSpPr/>
          <p:nvPr/>
        </p:nvSpPr>
        <p:spPr>
          <a:xfrm>
            <a:off x="5513832" y="1517903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</a:rPr>
              <a:t>Google Places, Trends, geospatial, rent benchmarks</a:t>
            </a:r>
          </a:p>
        </p:txBody>
      </p:sp>
      <p:pic>
        <p:nvPicPr>
          <p:cNvPr id="52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66360" y="1920239"/>
            <a:ext cx="256032" cy="256032"/>
          </a:xfrm>
          <a:prstGeom prst="rect">
            <a:avLst/>
          </a:prstGeom>
        </p:spPr>
      </p:pic>
      <p:sp>
        <p:nvSpPr>
          <p:cNvPr id="53" name="Text 43"/>
          <p:cNvSpPr/>
          <p:nvPr/>
        </p:nvSpPr>
        <p:spPr>
          <a:xfrm>
            <a:off x="5513832" y="1856231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1"/>
                </a:solidFill>
              </a:rPr>
              <a:t>AI analysis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4" name="Text 44"/>
          <p:cNvSpPr/>
          <p:nvPr/>
        </p:nvSpPr>
        <p:spPr>
          <a:xfrm>
            <a:off x="5513832" y="2048255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</a:rPr>
              <a:t>Growth classification &amp; demand forecasting</a:t>
            </a:r>
          </a:p>
        </p:txBody>
      </p:sp>
      <p:pic>
        <p:nvPicPr>
          <p:cNvPr id="56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66360" y="2450591"/>
            <a:ext cx="256032" cy="256032"/>
          </a:xfrm>
          <a:prstGeom prst="rect">
            <a:avLst/>
          </a:prstGeom>
        </p:spPr>
      </p:pic>
      <p:sp>
        <p:nvSpPr>
          <p:cNvPr id="57" name="Text 46"/>
          <p:cNvSpPr/>
          <p:nvPr/>
        </p:nvSpPr>
        <p:spPr>
          <a:xfrm>
            <a:off x="5513832" y="2386583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1"/>
                </a:solidFill>
              </a:rPr>
              <a:t>Smart insights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8" name="Text 47"/>
          <p:cNvSpPr/>
          <p:nvPr/>
        </p:nvSpPr>
        <p:spPr>
          <a:xfrm>
            <a:off x="5513832" y="2578607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</a:rPr>
              <a:t>AI-generated investor narratives</a:t>
            </a:r>
          </a:p>
        </p:txBody>
      </p:sp>
      <p:pic>
        <p:nvPicPr>
          <p:cNvPr id="60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29200" y="3300983"/>
            <a:ext cx="256032" cy="256032"/>
          </a:xfrm>
          <a:prstGeom prst="rect">
            <a:avLst/>
          </a:prstGeom>
        </p:spPr>
      </p:pic>
      <p:sp>
        <p:nvSpPr>
          <p:cNvPr id="61" name="Text 49"/>
          <p:cNvSpPr/>
          <p:nvPr/>
        </p:nvSpPr>
        <p:spPr>
          <a:xfrm>
            <a:off x="5349240" y="3291839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Core Gap</a:t>
            </a:r>
            <a:endParaRPr lang="en-US" sz="1000" dirty="0"/>
          </a:p>
        </p:txBody>
      </p:sp>
      <p:sp>
        <p:nvSpPr>
          <p:cNvPr id="62" name="Text 50"/>
          <p:cNvSpPr/>
          <p:nvPr/>
        </p:nvSpPr>
        <p:spPr>
          <a:xfrm>
            <a:off x="5029200" y="3602735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chemeClr val="bg1"/>
                </a:solidFill>
              </a:rPr>
              <a:t>No system that combines multi-source data + AI + explainability for café-specific decisions.</a:t>
            </a:r>
          </a:p>
        </p:txBody>
      </p:sp>
      <p:pic>
        <p:nvPicPr>
          <p:cNvPr id="64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40880" y="3300983"/>
            <a:ext cx="256032" cy="256032"/>
          </a:xfrm>
          <a:prstGeom prst="rect">
            <a:avLst/>
          </a:prstGeom>
        </p:spPr>
      </p:pic>
      <p:sp>
        <p:nvSpPr>
          <p:cNvPr id="65" name="Text 52"/>
          <p:cNvSpPr/>
          <p:nvPr/>
        </p:nvSpPr>
        <p:spPr>
          <a:xfrm>
            <a:off x="7360920" y="3291839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Opportunity</a:t>
            </a:r>
            <a:endParaRPr lang="en-US" sz="1000" dirty="0"/>
          </a:p>
        </p:txBody>
      </p:sp>
      <p:sp>
        <p:nvSpPr>
          <p:cNvPr id="66" name="Text 53"/>
          <p:cNvSpPr/>
          <p:nvPr/>
        </p:nvSpPr>
        <p:spPr>
          <a:xfrm>
            <a:off x="7040880" y="3602735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chemeClr val="bg1"/>
                </a:solidFill>
              </a:rPr>
              <a:t>Deliver data-driven, explainable intelligence to reduce investment risk in a crowded market.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F46CE26-AD63-1146-1C5A-E3022C5226A4}"/>
              </a:ext>
            </a:extLst>
          </p:cNvPr>
          <p:cNvSpPr txBox="1"/>
          <p:nvPr/>
        </p:nvSpPr>
        <p:spPr>
          <a:xfrm>
            <a:off x="461161" y="934561"/>
            <a:ext cx="4248000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Starting or expanding a café requires understanding: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bg1"/>
                </a:solidFill>
              </a:rPr>
              <a:t>Market demand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bg1"/>
                </a:solidFill>
              </a:rPr>
              <a:t>Competitor positioning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bg1"/>
                </a:solidFill>
              </a:rPr>
              <a:t>Consumer preferences</a:t>
            </a:r>
          </a:p>
          <a:p>
            <a:r>
              <a:rPr lang="en-US" sz="800" dirty="0">
                <a:solidFill>
                  <a:schemeClr val="bg1"/>
                </a:solidFill>
              </a:rPr>
              <a:t>There is not a single unified system to combine and interpret this data and requires </a:t>
            </a:r>
            <a:r>
              <a:rPr lang="en-US" sz="800" b="1" dirty="0">
                <a:solidFill>
                  <a:schemeClr val="bg1"/>
                </a:solidFill>
              </a:rPr>
              <a:t>manual analysis across hundreds of data points. As a result:</a:t>
            </a:r>
            <a:endParaRPr lang="en-US" sz="800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bg1"/>
                </a:solidFill>
              </a:rPr>
              <a:t>Entrepreneurs struggle to </a:t>
            </a:r>
            <a:r>
              <a:rPr lang="en-US" sz="800" b="1" dirty="0">
                <a:solidFill>
                  <a:schemeClr val="bg1"/>
                </a:solidFill>
              </a:rPr>
              <a:t>identify the right location and strategy</a:t>
            </a:r>
            <a:endParaRPr lang="en-US" sz="800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bg1"/>
                </a:solidFill>
              </a:rPr>
              <a:t>Businesses lack clarity on their </a:t>
            </a:r>
            <a:r>
              <a:rPr lang="en-US" sz="800" b="1" dirty="0">
                <a:solidFill>
                  <a:schemeClr val="bg1"/>
                </a:solidFill>
              </a:rPr>
              <a:t>competitive positioning</a:t>
            </a:r>
            <a:endParaRPr lang="en-US" sz="800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bg1"/>
                </a:solidFill>
              </a:rPr>
              <a:t>Decisions are often </a:t>
            </a:r>
            <a:r>
              <a:rPr lang="en-US" sz="800" b="1" dirty="0">
                <a:solidFill>
                  <a:schemeClr val="bg1"/>
                </a:solidFill>
              </a:rPr>
              <a:t>slow, inefficient, and intuition-based</a:t>
            </a:r>
            <a:endParaRPr lang="en-US" sz="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201168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Shape 2"/>
          <p:cNvSpPr/>
          <p:nvPr/>
        </p:nvSpPr>
        <p:spPr>
          <a:xfrm>
            <a:off x="301752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" name="Shape 3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Shape 4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Shape 5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Shape 6"/>
          <p:cNvSpPr/>
          <p:nvPr/>
        </p:nvSpPr>
        <p:spPr>
          <a:xfrm>
            <a:off x="704088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Shape 7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Shape 8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Shape 9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" name="Shape 10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" name="Shape 11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Shape 1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>
              <a:solidFill>
                <a:schemeClr val="bg1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6" name="Shape 14"/>
          <p:cNvSpPr/>
          <p:nvPr/>
        </p:nvSpPr>
        <p:spPr>
          <a:xfrm>
            <a:off x="640080" y="292608"/>
            <a:ext cx="365760" cy="365760"/>
          </a:xfrm>
          <a:prstGeom prst="lin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29184"/>
            <a:ext cx="256032" cy="25603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09728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TrendHive Product &amp; Data Scale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097280" y="5669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AI-driven market intelligence platform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768096" y="996695"/>
            <a:ext cx="3291840" cy="274320"/>
          </a:xfrm>
          <a:prstGeom prst="rect">
            <a:avLst/>
          </a:prstGeom>
          <a:noFill/>
          <a:ln w="12700">
            <a:solidFill>
              <a:srgbClr val="22C55E">
                <a:alpha val="40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 AI-Driven Market Intelligence Platform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768096" y="129844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chemeClr val="bg1"/>
                </a:solidFill>
              </a:rPr>
              <a:t>Built on comprehensive data analysis of 345 cafés across 24 Dubai areas, processing 563,534 real customer reviews to deliver actionable insights.</a:t>
            </a:r>
          </a:p>
        </p:txBody>
      </p:sp>
      <p:sp>
        <p:nvSpPr>
          <p:cNvPr id="29" name="Text 24"/>
          <p:cNvSpPr/>
          <p:nvPr/>
        </p:nvSpPr>
        <p:spPr>
          <a:xfrm>
            <a:off x="800100" y="1929384"/>
            <a:ext cx="1417320" cy="201168"/>
          </a:xfrm>
          <a:prstGeom prst="rect">
            <a:avLst/>
          </a:prstGeom>
          <a:noFill/>
          <a:ln w="12700">
            <a:solidFill>
              <a:srgbClr val="3B82F6">
                <a:alpha val="28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A5FA"/>
                </a:solidFill>
              </a:rPr>
              <a:t>  Google Places</a:t>
            </a:r>
            <a:endParaRPr lang="en-US" sz="850" dirty="0"/>
          </a:p>
        </p:txBody>
      </p:sp>
      <p:sp>
        <p:nvSpPr>
          <p:cNvPr id="32" name="Text 26"/>
          <p:cNvSpPr/>
          <p:nvPr/>
        </p:nvSpPr>
        <p:spPr>
          <a:xfrm>
            <a:off x="2898648" y="1920240"/>
            <a:ext cx="1417320" cy="201168"/>
          </a:xfrm>
          <a:prstGeom prst="rect">
            <a:avLst/>
          </a:prstGeom>
          <a:noFill/>
          <a:ln w="12700">
            <a:solidFill>
              <a:srgbClr val="3B82F6">
                <a:alpha val="28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A5FA"/>
                </a:solidFill>
              </a:rPr>
              <a:t>  Google Trends</a:t>
            </a:r>
            <a:endParaRPr lang="en-US" sz="850" dirty="0"/>
          </a:p>
        </p:txBody>
      </p:sp>
      <p:sp>
        <p:nvSpPr>
          <p:cNvPr id="35" name="Text 28"/>
          <p:cNvSpPr/>
          <p:nvPr/>
        </p:nvSpPr>
        <p:spPr>
          <a:xfrm>
            <a:off x="800100" y="2245516"/>
            <a:ext cx="1417320" cy="201168"/>
          </a:xfrm>
          <a:prstGeom prst="rect">
            <a:avLst/>
          </a:prstGeom>
          <a:noFill/>
          <a:ln w="12700">
            <a:solidFill>
              <a:srgbClr val="3B82F6">
                <a:alpha val="28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A5FA"/>
                </a:solidFill>
              </a:rPr>
              <a:t>  Geospatial Data</a:t>
            </a:r>
            <a:endParaRPr lang="en-US" sz="850" dirty="0"/>
          </a:p>
        </p:txBody>
      </p:sp>
      <p:sp>
        <p:nvSpPr>
          <p:cNvPr id="38" name="Text 30"/>
          <p:cNvSpPr/>
          <p:nvPr/>
        </p:nvSpPr>
        <p:spPr>
          <a:xfrm>
            <a:off x="2898648" y="2267712"/>
            <a:ext cx="1417320" cy="201168"/>
          </a:xfrm>
          <a:prstGeom prst="rect">
            <a:avLst/>
          </a:prstGeom>
          <a:noFill/>
          <a:ln w="12700">
            <a:solidFill>
              <a:srgbClr val="3B82F6">
                <a:alpha val="28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A5FA"/>
                </a:solidFill>
              </a:rPr>
              <a:t>  Rent Benchmarks</a:t>
            </a:r>
            <a:endParaRPr lang="en-US" sz="850" dirty="0"/>
          </a:p>
        </p:txBody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761488"/>
            <a:ext cx="256032" cy="256032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1051560" y="27432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Cafés Analyzed</a:t>
            </a:r>
          </a:p>
        </p:txBody>
      </p:sp>
      <p:sp>
        <p:nvSpPr>
          <p:cNvPr id="42" name="Text 33"/>
          <p:cNvSpPr/>
          <p:nvPr/>
        </p:nvSpPr>
        <p:spPr>
          <a:xfrm>
            <a:off x="731520" y="299923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345</a:t>
            </a:r>
            <a:endParaRPr lang="en-US" sz="2600" dirty="0"/>
          </a:p>
        </p:txBody>
      </p:sp>
      <p:sp>
        <p:nvSpPr>
          <p:cNvPr id="43" name="Text 34"/>
          <p:cNvSpPr/>
          <p:nvPr/>
        </p:nvSpPr>
        <p:spPr>
          <a:xfrm>
            <a:off x="731520" y="34107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chemeClr val="bg1"/>
                </a:solidFill>
              </a:rPr>
              <a:t>Across 24 Dubai areas</a:t>
            </a:r>
          </a:p>
        </p:txBody>
      </p:sp>
      <p:pic>
        <p:nvPicPr>
          <p:cNvPr id="45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0" y="2761488"/>
            <a:ext cx="256032" cy="256032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3063240" y="27432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Reviews Processed</a:t>
            </a:r>
          </a:p>
        </p:txBody>
      </p:sp>
      <p:sp>
        <p:nvSpPr>
          <p:cNvPr id="47" name="Text 37"/>
          <p:cNvSpPr/>
          <p:nvPr/>
        </p:nvSpPr>
        <p:spPr>
          <a:xfrm>
            <a:off x="2743200" y="299923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563,534</a:t>
            </a:r>
            <a:endParaRPr lang="en-US" sz="2600" dirty="0"/>
          </a:p>
        </p:txBody>
      </p:sp>
      <p:sp>
        <p:nvSpPr>
          <p:cNvPr id="48" name="Text 38"/>
          <p:cNvSpPr/>
          <p:nvPr/>
        </p:nvSpPr>
        <p:spPr>
          <a:xfrm>
            <a:off x="2743200" y="34107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chemeClr val="bg1"/>
                </a:solidFill>
              </a:rPr>
              <a:t>Real customer reviews</a:t>
            </a:r>
          </a:p>
        </p:txBody>
      </p:sp>
      <p:pic>
        <p:nvPicPr>
          <p:cNvPr id="50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904488"/>
            <a:ext cx="256032" cy="256032"/>
          </a:xfrm>
          <a:prstGeom prst="rect">
            <a:avLst/>
          </a:prstGeom>
        </p:spPr>
      </p:pic>
      <p:sp>
        <p:nvSpPr>
          <p:cNvPr id="51" name="Text 40"/>
          <p:cNvSpPr/>
          <p:nvPr/>
        </p:nvSpPr>
        <p:spPr>
          <a:xfrm>
            <a:off x="1051560" y="38862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Coverage Areas</a:t>
            </a:r>
          </a:p>
        </p:txBody>
      </p:sp>
      <p:sp>
        <p:nvSpPr>
          <p:cNvPr id="52" name="Text 41"/>
          <p:cNvSpPr/>
          <p:nvPr/>
        </p:nvSpPr>
        <p:spPr>
          <a:xfrm>
            <a:off x="731520" y="414223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600" dirty="0"/>
          </a:p>
        </p:txBody>
      </p:sp>
      <p:sp>
        <p:nvSpPr>
          <p:cNvPr id="53" name="Text 42"/>
          <p:cNvSpPr/>
          <p:nvPr/>
        </p:nvSpPr>
        <p:spPr>
          <a:xfrm>
            <a:off x="731520" y="45537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chemeClr val="bg1"/>
                </a:solidFill>
              </a:rPr>
              <a:t>Dubai districts</a:t>
            </a:r>
          </a:p>
        </p:txBody>
      </p:sp>
      <p:pic>
        <p:nvPicPr>
          <p:cNvPr id="55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0" y="3904488"/>
            <a:ext cx="256032" cy="256032"/>
          </a:xfrm>
          <a:prstGeom prst="rect">
            <a:avLst/>
          </a:prstGeom>
        </p:spPr>
      </p:pic>
      <p:sp>
        <p:nvSpPr>
          <p:cNvPr id="56" name="Text 44"/>
          <p:cNvSpPr/>
          <p:nvPr/>
        </p:nvSpPr>
        <p:spPr>
          <a:xfrm>
            <a:off x="3017520" y="3927387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API Endpoints</a:t>
            </a:r>
          </a:p>
        </p:txBody>
      </p:sp>
      <p:sp>
        <p:nvSpPr>
          <p:cNvPr id="57" name="Text 45"/>
          <p:cNvSpPr/>
          <p:nvPr/>
        </p:nvSpPr>
        <p:spPr>
          <a:xfrm>
            <a:off x="2743200" y="414223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11+</a:t>
            </a:r>
            <a:endParaRPr lang="en-US" sz="2600" dirty="0"/>
          </a:p>
        </p:txBody>
      </p:sp>
      <p:sp>
        <p:nvSpPr>
          <p:cNvPr id="58" name="Text 46"/>
          <p:cNvSpPr/>
          <p:nvPr/>
        </p:nvSpPr>
        <p:spPr>
          <a:xfrm>
            <a:off x="2743200" y="45537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chemeClr val="bg1"/>
                </a:solidFill>
              </a:rPr>
              <a:t>Powering the system</a:t>
            </a:r>
          </a:p>
        </p:txBody>
      </p:sp>
      <p:sp>
        <p:nvSpPr>
          <p:cNvPr id="60" name="Text 48"/>
          <p:cNvSpPr/>
          <p:nvPr/>
        </p:nvSpPr>
        <p:spPr>
          <a:xfrm>
            <a:off x="4892040" y="9875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⚙  System Capabilities</a:t>
            </a:r>
            <a:endParaRPr lang="en-US" sz="1200" dirty="0"/>
          </a:p>
        </p:txBody>
      </p:sp>
      <p:pic>
        <p:nvPicPr>
          <p:cNvPr id="62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94960" y="1408176"/>
            <a:ext cx="274320" cy="274320"/>
          </a:xfrm>
          <a:prstGeom prst="rect">
            <a:avLst/>
          </a:prstGeom>
        </p:spPr>
      </p:pic>
      <p:sp>
        <p:nvSpPr>
          <p:cNvPr id="63" name="Text 50"/>
          <p:cNvSpPr/>
          <p:nvPr/>
        </p:nvSpPr>
        <p:spPr>
          <a:xfrm>
            <a:off x="4937760" y="1737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Growth Classification</a:t>
            </a:r>
            <a:endParaRPr lang="en-US" sz="850" dirty="0"/>
          </a:p>
        </p:txBody>
      </p:sp>
      <p:sp>
        <p:nvSpPr>
          <p:cNvPr id="64" name="Text 51"/>
          <p:cNvSpPr/>
          <p:nvPr/>
        </p:nvSpPr>
        <p:spPr>
          <a:xfrm>
            <a:off x="4937760" y="20116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chemeClr val="bg1"/>
                </a:solidFill>
              </a:rPr>
              <a:t>GROWING / STABLE / DECLINING</a:t>
            </a:r>
          </a:p>
        </p:txBody>
      </p:sp>
      <p:pic>
        <p:nvPicPr>
          <p:cNvPr id="66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48272" y="1408176"/>
            <a:ext cx="274320" cy="274320"/>
          </a:xfrm>
          <a:prstGeom prst="rect">
            <a:avLst/>
          </a:prstGeom>
        </p:spPr>
      </p:pic>
      <p:sp>
        <p:nvSpPr>
          <p:cNvPr id="67" name="Text 53"/>
          <p:cNvSpPr/>
          <p:nvPr/>
        </p:nvSpPr>
        <p:spPr>
          <a:xfrm>
            <a:off x="6291072" y="1737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Demand Forecasting</a:t>
            </a:r>
            <a:endParaRPr lang="en-US" sz="850" dirty="0"/>
          </a:p>
        </p:txBody>
      </p:sp>
      <p:sp>
        <p:nvSpPr>
          <p:cNvPr id="68" name="Text 54"/>
          <p:cNvSpPr/>
          <p:nvPr/>
        </p:nvSpPr>
        <p:spPr>
          <a:xfrm>
            <a:off x="6291072" y="20116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chemeClr val="bg1"/>
                </a:solidFill>
              </a:rPr>
              <a:t>6-month</a:t>
            </a:r>
            <a:r>
              <a:rPr lang="en-US" sz="750" dirty="0">
                <a:solidFill>
                  <a:srgbClr val="94A3B8"/>
                </a:solidFill>
              </a:rPr>
              <a:t> </a:t>
            </a:r>
            <a:r>
              <a:rPr lang="en-US" sz="750" dirty="0">
                <a:solidFill>
                  <a:schemeClr val="bg1"/>
                </a:solidFill>
              </a:rPr>
              <a:t>horizon</a:t>
            </a:r>
          </a:p>
        </p:txBody>
      </p:sp>
      <p:pic>
        <p:nvPicPr>
          <p:cNvPr id="70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01584" y="1408176"/>
            <a:ext cx="274320" cy="274320"/>
          </a:xfrm>
          <a:prstGeom prst="rect">
            <a:avLst/>
          </a:prstGeom>
        </p:spPr>
      </p:pic>
      <p:sp>
        <p:nvSpPr>
          <p:cNvPr id="71" name="Text 56"/>
          <p:cNvSpPr/>
          <p:nvPr/>
        </p:nvSpPr>
        <p:spPr>
          <a:xfrm>
            <a:off x="7644384" y="1737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AI Insights</a:t>
            </a:r>
            <a:endParaRPr lang="en-US" sz="850" dirty="0"/>
          </a:p>
        </p:txBody>
      </p:sp>
      <p:sp>
        <p:nvSpPr>
          <p:cNvPr id="72" name="Text 57"/>
          <p:cNvSpPr/>
          <p:nvPr/>
        </p:nvSpPr>
        <p:spPr>
          <a:xfrm>
            <a:off x="7644384" y="20116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chemeClr val="bg1"/>
                </a:solidFill>
              </a:rPr>
              <a:t>Investor narratives</a:t>
            </a:r>
          </a:p>
        </p:txBody>
      </p:sp>
      <p:pic>
        <p:nvPicPr>
          <p:cNvPr id="74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46320" y="2770632"/>
            <a:ext cx="256032" cy="256032"/>
          </a:xfrm>
          <a:prstGeom prst="rect">
            <a:avLst/>
          </a:prstGeom>
        </p:spPr>
      </p:pic>
      <p:sp>
        <p:nvSpPr>
          <p:cNvPr id="75" name="Text 59"/>
          <p:cNvSpPr/>
          <p:nvPr/>
        </p:nvSpPr>
        <p:spPr>
          <a:xfrm>
            <a:off x="5166360" y="27614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Output at Scale</a:t>
            </a:r>
            <a:endParaRPr lang="en-US" sz="1200" dirty="0"/>
          </a:p>
        </p:txBody>
      </p:sp>
      <p:sp>
        <p:nvSpPr>
          <p:cNvPr id="76" name="Text 60"/>
          <p:cNvSpPr/>
          <p:nvPr/>
        </p:nvSpPr>
        <p:spPr>
          <a:xfrm>
            <a:off x="4846320" y="309067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chemeClr val="bg1"/>
                </a:solidFill>
              </a:rPr>
              <a:t>120 AI-generated narratives (24 areas × 5 investor profiles) with real-time monitoring and actionable insights.</a:t>
            </a:r>
          </a:p>
        </p:txBody>
      </p:sp>
      <p:sp>
        <p:nvSpPr>
          <p:cNvPr id="78" name="Text 62"/>
          <p:cNvSpPr/>
          <p:nvPr/>
        </p:nvSpPr>
        <p:spPr>
          <a:xfrm>
            <a:off x="4892040" y="3712464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2400" dirty="0"/>
          </a:p>
        </p:txBody>
      </p:sp>
      <p:sp>
        <p:nvSpPr>
          <p:cNvPr id="79" name="Text 63"/>
          <p:cNvSpPr/>
          <p:nvPr/>
        </p:nvSpPr>
        <p:spPr>
          <a:xfrm>
            <a:off x="4892040" y="415137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chemeClr val="bg1"/>
                </a:solidFill>
              </a:rPr>
              <a:t>AI narratives</a:t>
            </a:r>
          </a:p>
        </p:txBody>
      </p:sp>
      <p:sp>
        <p:nvSpPr>
          <p:cNvPr id="81" name="Text 65"/>
          <p:cNvSpPr/>
          <p:nvPr/>
        </p:nvSpPr>
        <p:spPr>
          <a:xfrm>
            <a:off x="6190488" y="3712464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400" dirty="0"/>
          </a:p>
        </p:txBody>
      </p:sp>
      <p:sp>
        <p:nvSpPr>
          <p:cNvPr id="82" name="Text 66"/>
          <p:cNvSpPr/>
          <p:nvPr/>
        </p:nvSpPr>
        <p:spPr>
          <a:xfrm>
            <a:off x="6190488" y="415137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chemeClr val="bg1"/>
                </a:solidFill>
              </a:rPr>
              <a:t>Areas covered</a:t>
            </a:r>
          </a:p>
        </p:txBody>
      </p:sp>
      <p:sp>
        <p:nvSpPr>
          <p:cNvPr id="84" name="Text 68"/>
          <p:cNvSpPr/>
          <p:nvPr/>
        </p:nvSpPr>
        <p:spPr>
          <a:xfrm>
            <a:off x="7488936" y="3712464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85" name="Text 69"/>
          <p:cNvSpPr/>
          <p:nvPr/>
        </p:nvSpPr>
        <p:spPr>
          <a:xfrm>
            <a:off x="7488936" y="415137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chemeClr val="bg1"/>
                </a:solidFill>
              </a:rPr>
              <a:t>Investor profiles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201168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Shape 2"/>
          <p:cNvSpPr/>
          <p:nvPr/>
        </p:nvSpPr>
        <p:spPr>
          <a:xfrm>
            <a:off x="301752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" name="Shape 3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Shape 4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Shape 5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Shape 6"/>
          <p:cNvSpPr/>
          <p:nvPr/>
        </p:nvSpPr>
        <p:spPr>
          <a:xfrm>
            <a:off x="704088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Shape 7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Shape 8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Shape 9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" name="Shape 10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" name="Shape 11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Shape 1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" name="Shape 13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6" name="Shape 14"/>
          <p:cNvSpPr/>
          <p:nvPr/>
        </p:nvSpPr>
        <p:spPr>
          <a:xfrm>
            <a:off x="640080" y="292608"/>
            <a:ext cx="365760" cy="365760"/>
          </a:xfrm>
          <a:prstGeom prst="lin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29184"/>
            <a:ext cx="256032" cy="25603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09728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Quantified Decision Engine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097280" y="5669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Key metrics for market intelligence and location analysis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858000" y="3474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Data validated   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858000" y="5669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C55E"/>
                </a:solidFill>
              </a:rPr>
              <a:t>94% accuracy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67510" y="914399"/>
            <a:ext cx="9145" cy="1400400"/>
          </a:xfrm>
          <a:prstGeom prst="lin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1005840"/>
            <a:ext cx="274320" cy="27432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115568" y="10058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Popularity Score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804672" y="13716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Rating  ×  log(Review Count)  →  True demand strength</a:t>
            </a:r>
            <a:endParaRPr lang="en-US" sz="90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1828800"/>
            <a:ext cx="182880" cy="18288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987552" y="18105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Captures true demand strength by weighting rating with review volume</a:t>
            </a:r>
          </a:p>
        </p:txBody>
      </p:sp>
      <p:sp>
        <p:nvSpPr>
          <p:cNvPr id="31" name="Shape 26"/>
          <p:cNvSpPr/>
          <p:nvPr/>
        </p:nvSpPr>
        <p:spPr>
          <a:xfrm flipH="1">
            <a:off x="4919460" y="914399"/>
            <a:ext cx="2" cy="1400400"/>
          </a:xfrm>
          <a:prstGeom prst="lin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0056" y="1005840"/>
            <a:ext cx="274320" cy="27432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367528" y="10058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Competition Index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5056632" y="13716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Café Density  +  Market Share  →  94% accuracy</a:t>
            </a:r>
            <a:endParaRPr lang="en-US" sz="900" dirty="0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1768" y="1828800"/>
            <a:ext cx="182880" cy="18288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5239512" y="18105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Based on café density analysis, validated with 94% accuracy</a:t>
            </a:r>
          </a:p>
        </p:txBody>
      </p:sp>
      <p:sp>
        <p:nvSpPr>
          <p:cNvPr id="39" name="Shape 32"/>
          <p:cNvSpPr/>
          <p:nvPr/>
        </p:nvSpPr>
        <p:spPr>
          <a:xfrm flipH="1">
            <a:off x="685800" y="2670047"/>
            <a:ext cx="0" cy="1444737"/>
          </a:xfrm>
          <a:prstGeom prst="lin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96" y="2697480"/>
            <a:ext cx="274320" cy="27432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1115568" y="26974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Area Demand Score</a:t>
            </a:r>
            <a:endParaRPr lang="en-US" sz="1200" dirty="0"/>
          </a:p>
        </p:txBody>
      </p:sp>
      <p:sp>
        <p:nvSpPr>
          <p:cNvPr id="43" name="Text 35"/>
          <p:cNvSpPr/>
          <p:nvPr/>
        </p:nvSpPr>
        <p:spPr>
          <a:xfrm>
            <a:off x="804672" y="30632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Popularity  −  Competition  +  Tourism</a:t>
            </a:r>
            <a:endParaRPr lang="en-US" sz="900" dirty="0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3520440"/>
            <a:ext cx="182880" cy="182880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987552" y="35021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Identifies high-return locations by combining multiple factors</a:t>
            </a:r>
          </a:p>
        </p:txBody>
      </p:sp>
      <p:sp>
        <p:nvSpPr>
          <p:cNvPr id="47" name="Shape 38"/>
          <p:cNvSpPr/>
          <p:nvPr/>
        </p:nvSpPr>
        <p:spPr>
          <a:xfrm>
            <a:off x="4901184" y="2606038"/>
            <a:ext cx="9144" cy="1524745"/>
          </a:xfrm>
          <a:prstGeom prst="lin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48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0056" y="2697480"/>
            <a:ext cx="274320" cy="274320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5367528" y="26974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Trend Growth Rate</a:t>
            </a:r>
            <a:endParaRPr lang="en-US" sz="1200" dirty="0"/>
          </a:p>
        </p:txBody>
      </p:sp>
      <p:sp>
        <p:nvSpPr>
          <p:cNvPr id="51" name="Text 41"/>
          <p:cNvSpPr/>
          <p:nvPr/>
        </p:nvSpPr>
        <p:spPr>
          <a:xfrm>
            <a:off x="5056632" y="30632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 Trends  ×  Weekly Data Points  →  260/week</a:t>
            </a:r>
            <a:endParaRPr lang="en-US" sz="900" dirty="0"/>
          </a:p>
        </p:txBody>
      </p:sp>
      <p:pic>
        <p:nvPicPr>
          <p:cNvPr id="52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1768" y="3520440"/>
            <a:ext cx="182880" cy="182880"/>
          </a:xfrm>
          <a:prstGeom prst="rect">
            <a:avLst/>
          </a:prstGeom>
        </p:spPr>
      </p:pic>
      <p:sp>
        <p:nvSpPr>
          <p:cNvPr id="53" name="Text 42"/>
          <p:cNvSpPr/>
          <p:nvPr/>
        </p:nvSpPr>
        <p:spPr>
          <a:xfrm>
            <a:off x="5239512" y="35021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Based on search trends with ~260 weekly data points per keyword</a:t>
            </a:r>
          </a:p>
        </p:txBody>
      </p:sp>
      <p:pic>
        <p:nvPicPr>
          <p:cNvPr id="55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9808" y="4425696"/>
            <a:ext cx="237744" cy="237744"/>
          </a:xfrm>
          <a:prstGeom prst="rect">
            <a:avLst/>
          </a:prstGeom>
        </p:spPr>
      </p:pic>
      <p:sp>
        <p:nvSpPr>
          <p:cNvPr id="56" name="Text 44"/>
          <p:cNvSpPr/>
          <p:nvPr/>
        </p:nvSpPr>
        <p:spPr>
          <a:xfrm>
            <a:off x="1042416" y="44165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Validated Proxies</a:t>
            </a:r>
            <a:endParaRPr lang="en-US" sz="1100" dirty="0"/>
          </a:p>
        </p:txBody>
      </p:sp>
      <p:pic>
        <p:nvPicPr>
          <p:cNvPr id="58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16352" y="4453128"/>
            <a:ext cx="256032" cy="256032"/>
          </a:xfrm>
          <a:prstGeom prst="rect">
            <a:avLst/>
          </a:prstGeom>
        </p:spPr>
      </p:pic>
      <p:sp>
        <p:nvSpPr>
          <p:cNvPr id="59" name="Text 46"/>
          <p:cNvSpPr/>
          <p:nvPr/>
        </p:nvSpPr>
        <p:spPr>
          <a:xfrm>
            <a:off x="3127248" y="4389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Footfall score correlation</a:t>
            </a:r>
          </a:p>
        </p:txBody>
      </p:sp>
      <p:sp>
        <p:nvSpPr>
          <p:cNvPr id="60" name="Text 47"/>
          <p:cNvSpPr/>
          <p:nvPr/>
        </p:nvSpPr>
        <p:spPr>
          <a:xfrm>
            <a:off x="3127248" y="45994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0A5FA"/>
                </a:solidFill>
              </a:rPr>
              <a:t>r = 0.82 with real tourism data</a:t>
            </a:r>
            <a:endParaRPr lang="en-US" sz="950" dirty="0"/>
          </a:p>
        </p:txBody>
      </p:sp>
      <p:pic>
        <p:nvPicPr>
          <p:cNvPr id="62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16752" y="4453128"/>
            <a:ext cx="256032" cy="256032"/>
          </a:xfrm>
          <a:prstGeom prst="rect">
            <a:avLst/>
          </a:prstGeom>
        </p:spPr>
      </p:pic>
      <p:sp>
        <p:nvSpPr>
          <p:cNvPr id="63" name="Text 49"/>
          <p:cNvSpPr/>
          <p:nvPr/>
        </p:nvSpPr>
        <p:spPr>
          <a:xfrm>
            <a:off x="6327648" y="4389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Rent estimation error</a:t>
            </a:r>
          </a:p>
        </p:txBody>
      </p:sp>
      <p:sp>
        <p:nvSpPr>
          <p:cNvPr id="64" name="Text 50"/>
          <p:cNvSpPr/>
          <p:nvPr/>
        </p:nvSpPr>
        <p:spPr>
          <a:xfrm>
            <a:off x="6327648" y="45994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0A5FA"/>
                </a:solidFill>
              </a:rPr>
              <a:t>~AED 12/sqm MAE</a:t>
            </a:r>
            <a:endParaRPr lang="en-US" sz="950" dirty="0"/>
          </a:p>
        </p:txBody>
      </p:sp>
      <p:sp>
        <p:nvSpPr>
          <p:cNvPr id="65" name="Shape 20">
            <a:extLst>
              <a:ext uri="{FF2B5EF4-FFF2-40B4-BE49-F238E27FC236}">
                <a16:creationId xmlns:a16="http://schemas.microsoft.com/office/drawing/2014/main" id="{0E775482-C3BE-D2F5-6830-1FAFD2B2FE1C}"/>
              </a:ext>
            </a:extLst>
          </p:cNvPr>
          <p:cNvSpPr/>
          <p:nvPr/>
        </p:nvSpPr>
        <p:spPr>
          <a:xfrm rot="5400000" flipH="1">
            <a:off x="2623980" y="365422"/>
            <a:ext cx="13717" cy="3882305"/>
          </a:xfrm>
          <a:prstGeom prst="lin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7" name="Shape 20">
            <a:extLst>
              <a:ext uri="{FF2B5EF4-FFF2-40B4-BE49-F238E27FC236}">
                <a16:creationId xmlns:a16="http://schemas.microsoft.com/office/drawing/2014/main" id="{FBABE167-1A95-503F-18B9-394564693DE3}"/>
              </a:ext>
            </a:extLst>
          </p:cNvPr>
          <p:cNvSpPr/>
          <p:nvPr/>
        </p:nvSpPr>
        <p:spPr>
          <a:xfrm rot="5400000" flipH="1">
            <a:off x="6853754" y="389649"/>
            <a:ext cx="13717" cy="3882305"/>
          </a:xfrm>
          <a:prstGeom prst="lin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8" name="Shape 20">
            <a:extLst>
              <a:ext uri="{FF2B5EF4-FFF2-40B4-BE49-F238E27FC236}">
                <a16:creationId xmlns:a16="http://schemas.microsoft.com/office/drawing/2014/main" id="{86D9ABD4-C219-4A53-EFF8-329E8490BFCD}"/>
              </a:ext>
            </a:extLst>
          </p:cNvPr>
          <p:cNvSpPr/>
          <p:nvPr/>
        </p:nvSpPr>
        <p:spPr>
          <a:xfrm rot="5400000" flipH="1">
            <a:off x="2620094" y="2175917"/>
            <a:ext cx="13717" cy="3882305"/>
          </a:xfrm>
          <a:prstGeom prst="lin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9" name="Shape 20">
            <a:extLst>
              <a:ext uri="{FF2B5EF4-FFF2-40B4-BE49-F238E27FC236}">
                <a16:creationId xmlns:a16="http://schemas.microsoft.com/office/drawing/2014/main" id="{4781E185-C90A-3C8B-E679-0353C0327C65}"/>
              </a:ext>
            </a:extLst>
          </p:cNvPr>
          <p:cNvSpPr/>
          <p:nvPr/>
        </p:nvSpPr>
        <p:spPr>
          <a:xfrm rot="5400000" flipH="1">
            <a:off x="6821085" y="2191917"/>
            <a:ext cx="13717" cy="3882305"/>
          </a:xfrm>
          <a:prstGeom prst="lin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201168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Shape 2"/>
          <p:cNvSpPr/>
          <p:nvPr/>
        </p:nvSpPr>
        <p:spPr>
          <a:xfrm>
            <a:off x="301752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" name="Shape 3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Shape 4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Shape 5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Shape 6"/>
          <p:cNvSpPr/>
          <p:nvPr/>
        </p:nvSpPr>
        <p:spPr>
          <a:xfrm>
            <a:off x="704088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Shape 7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Shape 8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Shape 9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" name="Shape 10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" name="Shape 11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Shape 1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" name="Shape 13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6" name="Shape 14"/>
          <p:cNvSpPr/>
          <p:nvPr/>
        </p:nvSpPr>
        <p:spPr>
          <a:xfrm>
            <a:off x="640080" y="292608"/>
            <a:ext cx="365760" cy="365760"/>
          </a:xfrm>
          <a:prstGeom prst="lin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29184"/>
            <a:ext cx="256032" cy="25603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09728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Models &amp; Measured Performance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097280" y="5669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Growth classification and demand forecasting analysis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996696" y="1005839"/>
            <a:ext cx="320040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  Growth Classification (Random Forest)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1078992" y="128015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8" name="Text 24"/>
          <p:cNvSpPr/>
          <p:nvPr/>
        </p:nvSpPr>
        <p:spPr>
          <a:xfrm>
            <a:off x="768096" y="159105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2200" dirty="0"/>
          </a:p>
        </p:txBody>
      </p:sp>
      <p:sp>
        <p:nvSpPr>
          <p:cNvPr id="29" name="Text 25"/>
          <p:cNvSpPr/>
          <p:nvPr/>
        </p:nvSpPr>
        <p:spPr>
          <a:xfrm>
            <a:off x="768096" y="199339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Accuracy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768096" y="2176272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2C55E"/>
                </a:solidFill>
              </a:rPr>
              <a:t>↑ 2.3%</a:t>
            </a:r>
            <a:endParaRPr lang="en-US" sz="750" dirty="0"/>
          </a:p>
        </p:txBody>
      </p:sp>
      <p:sp>
        <p:nvSpPr>
          <p:cNvPr id="32" name="Text 28"/>
          <p:cNvSpPr/>
          <p:nvPr/>
        </p:nvSpPr>
        <p:spPr>
          <a:xfrm>
            <a:off x="2029968" y="159105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0.87</a:t>
            </a:r>
            <a:endParaRPr lang="en-US" sz="2200" dirty="0"/>
          </a:p>
        </p:txBody>
      </p:sp>
      <p:sp>
        <p:nvSpPr>
          <p:cNvPr id="33" name="Text 29"/>
          <p:cNvSpPr/>
          <p:nvPr/>
        </p:nvSpPr>
        <p:spPr>
          <a:xfrm>
            <a:off x="2029968" y="199339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Weighted F1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2029968" y="2176272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2C55E"/>
                </a:solidFill>
              </a:rPr>
              <a:t>↑ 0.05</a:t>
            </a:r>
            <a:endParaRPr lang="en-US" sz="750" dirty="0"/>
          </a:p>
        </p:txBody>
      </p:sp>
      <p:sp>
        <p:nvSpPr>
          <p:cNvPr id="36" name="Text 32"/>
          <p:cNvSpPr/>
          <p:nvPr/>
        </p:nvSpPr>
        <p:spPr>
          <a:xfrm>
            <a:off x="3291840" y="159105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87.2%</a:t>
            </a:r>
            <a:endParaRPr lang="en-US" sz="2200" dirty="0"/>
          </a:p>
        </p:txBody>
      </p:sp>
      <p:sp>
        <p:nvSpPr>
          <p:cNvPr id="37" name="Text 33"/>
          <p:cNvSpPr/>
          <p:nvPr/>
        </p:nvSpPr>
        <p:spPr>
          <a:xfrm>
            <a:off x="3291840" y="199339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Cross-validation</a:t>
            </a:r>
            <a:endParaRPr lang="en-US" sz="800" dirty="0"/>
          </a:p>
        </p:txBody>
      </p:sp>
      <p:sp>
        <p:nvSpPr>
          <p:cNvPr id="38" name="Text 34"/>
          <p:cNvSpPr/>
          <p:nvPr/>
        </p:nvSpPr>
        <p:spPr>
          <a:xfrm>
            <a:off x="3291840" y="2176272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2C55E"/>
                </a:solidFill>
              </a:rPr>
              <a:t>↑ 1.8%</a:t>
            </a:r>
            <a:endParaRPr lang="en-US" sz="750" dirty="0"/>
          </a:p>
        </p:txBody>
      </p:sp>
      <p:sp>
        <p:nvSpPr>
          <p:cNvPr id="40" name="Text 36"/>
          <p:cNvSpPr/>
          <p:nvPr/>
        </p:nvSpPr>
        <p:spPr>
          <a:xfrm>
            <a:off x="822960" y="24688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</a:rPr>
              <a:t>Decision Tree</a:t>
            </a:r>
          </a:p>
        </p:txBody>
      </p:sp>
      <p:sp>
        <p:nvSpPr>
          <p:cNvPr id="43" name="Text 39"/>
          <p:cNvSpPr/>
          <p:nvPr/>
        </p:nvSpPr>
        <p:spPr>
          <a:xfrm>
            <a:off x="3474720" y="245973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0A5FA"/>
                </a:solidFill>
              </a:rPr>
              <a:t>81.2%</a:t>
            </a:r>
            <a:endParaRPr lang="en-US" sz="900" dirty="0"/>
          </a:p>
        </p:txBody>
      </p:sp>
      <p:sp>
        <p:nvSpPr>
          <p:cNvPr id="45" name="Text 41"/>
          <p:cNvSpPr/>
          <p:nvPr/>
        </p:nvSpPr>
        <p:spPr>
          <a:xfrm>
            <a:off x="822960" y="286207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</a:rPr>
              <a:t>Logistic Regression</a:t>
            </a:r>
          </a:p>
        </p:txBody>
      </p:sp>
      <p:sp>
        <p:nvSpPr>
          <p:cNvPr id="48" name="Text 44"/>
          <p:cNvSpPr/>
          <p:nvPr/>
        </p:nvSpPr>
        <p:spPr>
          <a:xfrm>
            <a:off x="3474720" y="285292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0A5FA"/>
                </a:solidFill>
              </a:rPr>
              <a:t>0.68 F1</a:t>
            </a:r>
            <a:endParaRPr lang="en-US" sz="900" dirty="0"/>
          </a:p>
        </p:txBody>
      </p:sp>
      <p:sp>
        <p:nvSpPr>
          <p:cNvPr id="49" name="Text 45"/>
          <p:cNvSpPr/>
          <p:nvPr/>
        </p:nvSpPr>
        <p:spPr>
          <a:xfrm>
            <a:off x="768096" y="327355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</a:rPr>
              <a:t>* Outperforms baseline models with 5.8% higher accuracy</a:t>
            </a:r>
          </a:p>
        </p:txBody>
      </p:sp>
      <p:sp>
        <p:nvSpPr>
          <p:cNvPr id="51" name="Shape 47"/>
          <p:cNvSpPr/>
          <p:nvPr/>
        </p:nvSpPr>
        <p:spPr>
          <a:xfrm>
            <a:off x="4754880" y="914400"/>
            <a:ext cx="9144" cy="2752344"/>
          </a:xfrm>
          <a:prstGeom prst="line">
            <a:avLst/>
          </a:prstGeom>
          <a:solidFill>
            <a:srgbClr val="3B82F6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5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2896" y="1005840"/>
            <a:ext cx="320040" cy="320040"/>
          </a:xfrm>
          <a:prstGeom prst="rect">
            <a:avLst/>
          </a:prstGeom>
        </p:spPr>
      </p:pic>
      <p:sp>
        <p:nvSpPr>
          <p:cNvPr id="53" name="Text 48"/>
          <p:cNvSpPr/>
          <p:nvPr/>
        </p:nvSpPr>
        <p:spPr>
          <a:xfrm>
            <a:off x="5285232" y="9875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Demand Forecasting (Holt's Model)</a:t>
            </a:r>
            <a:endParaRPr lang="en-US" sz="1150" dirty="0"/>
          </a:p>
        </p:txBody>
      </p:sp>
      <p:sp>
        <p:nvSpPr>
          <p:cNvPr id="54" name="Text 49"/>
          <p:cNvSpPr/>
          <p:nvPr/>
        </p:nvSpPr>
        <p:spPr>
          <a:xfrm>
            <a:off x="5285232" y="12801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56" name="Text 51"/>
          <p:cNvSpPr/>
          <p:nvPr/>
        </p:nvSpPr>
        <p:spPr>
          <a:xfrm>
            <a:off x="4882896" y="1591056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5.82</a:t>
            </a:r>
            <a:endParaRPr lang="en-US" sz="2200" dirty="0"/>
          </a:p>
        </p:txBody>
      </p:sp>
      <p:sp>
        <p:nvSpPr>
          <p:cNvPr id="57" name="Text 52"/>
          <p:cNvSpPr/>
          <p:nvPr/>
        </p:nvSpPr>
        <p:spPr>
          <a:xfrm>
            <a:off x="4882896" y="1993392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MAE</a:t>
            </a:r>
            <a:endParaRPr lang="en-US" sz="800" dirty="0"/>
          </a:p>
        </p:txBody>
      </p:sp>
      <p:sp>
        <p:nvSpPr>
          <p:cNvPr id="58" name="Text 53"/>
          <p:cNvSpPr/>
          <p:nvPr/>
        </p:nvSpPr>
        <p:spPr>
          <a:xfrm>
            <a:off x="4882896" y="2176272"/>
            <a:ext cx="1261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2C55E"/>
                </a:solidFill>
              </a:rPr>
              <a:t>↓ 0.3</a:t>
            </a:r>
            <a:endParaRPr lang="en-US" sz="750" dirty="0"/>
          </a:p>
        </p:txBody>
      </p:sp>
      <p:sp>
        <p:nvSpPr>
          <p:cNvPr id="60" name="Text 55"/>
          <p:cNvSpPr/>
          <p:nvPr/>
        </p:nvSpPr>
        <p:spPr>
          <a:xfrm>
            <a:off x="6208776" y="1591056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19.9%</a:t>
            </a:r>
            <a:endParaRPr lang="en-US" sz="2200" dirty="0"/>
          </a:p>
        </p:txBody>
      </p:sp>
      <p:sp>
        <p:nvSpPr>
          <p:cNvPr id="61" name="Text 56"/>
          <p:cNvSpPr/>
          <p:nvPr/>
        </p:nvSpPr>
        <p:spPr>
          <a:xfrm>
            <a:off x="6208776" y="1993392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MAPE</a:t>
            </a:r>
            <a:endParaRPr lang="en-US" sz="800" dirty="0"/>
          </a:p>
        </p:txBody>
      </p:sp>
      <p:sp>
        <p:nvSpPr>
          <p:cNvPr id="62" name="Text 57"/>
          <p:cNvSpPr/>
          <p:nvPr/>
        </p:nvSpPr>
        <p:spPr>
          <a:xfrm>
            <a:off x="6208776" y="2176272"/>
            <a:ext cx="1261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2C55E"/>
                </a:solidFill>
              </a:rPr>
              <a:t>↓ 2.1%</a:t>
            </a:r>
            <a:endParaRPr lang="en-US" sz="750" dirty="0"/>
          </a:p>
        </p:txBody>
      </p:sp>
      <p:sp>
        <p:nvSpPr>
          <p:cNvPr id="64" name="Text 59"/>
          <p:cNvSpPr/>
          <p:nvPr/>
        </p:nvSpPr>
        <p:spPr>
          <a:xfrm>
            <a:off x="7534656" y="1591056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7.2%</a:t>
            </a:r>
            <a:endParaRPr lang="en-US" sz="2200" dirty="0"/>
          </a:p>
        </p:txBody>
      </p:sp>
      <p:sp>
        <p:nvSpPr>
          <p:cNvPr id="65" name="Text 60"/>
          <p:cNvSpPr/>
          <p:nvPr/>
        </p:nvSpPr>
        <p:spPr>
          <a:xfrm>
            <a:off x="7534656" y="1993392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Best Case</a:t>
            </a:r>
            <a:endParaRPr lang="en-US" sz="800" dirty="0"/>
          </a:p>
        </p:txBody>
      </p:sp>
      <p:sp>
        <p:nvSpPr>
          <p:cNvPr id="66" name="Text 61"/>
          <p:cNvSpPr/>
          <p:nvPr/>
        </p:nvSpPr>
        <p:spPr>
          <a:xfrm>
            <a:off x="7534656" y="2176272"/>
            <a:ext cx="1261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2C55E"/>
                </a:solidFill>
              </a:rPr>
              <a:t>Café near me</a:t>
            </a:r>
            <a:endParaRPr lang="en-US" sz="750" dirty="0"/>
          </a:p>
        </p:txBody>
      </p:sp>
      <p:sp>
        <p:nvSpPr>
          <p:cNvPr id="68" name="Text 63"/>
          <p:cNvSpPr/>
          <p:nvPr/>
        </p:nvSpPr>
        <p:spPr>
          <a:xfrm>
            <a:off x="4974336" y="251460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"Café near me" → 7.2% MAPE</a:t>
            </a:r>
            <a:endParaRPr lang="en-US" sz="1000" dirty="0"/>
          </a:p>
        </p:txBody>
      </p:sp>
      <p:sp>
        <p:nvSpPr>
          <p:cNvPr id="69" name="Text 64"/>
          <p:cNvSpPr/>
          <p:nvPr/>
        </p:nvSpPr>
        <p:spPr>
          <a:xfrm>
            <a:off x="7315200" y="25146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chemeClr val="bg1"/>
                </a:solidFill>
              </a:rPr>
              <a:t>Best performing keyword</a:t>
            </a:r>
          </a:p>
        </p:txBody>
      </p:sp>
      <p:sp>
        <p:nvSpPr>
          <p:cNvPr id="70" name="Text 65"/>
          <p:cNvSpPr/>
          <p:nvPr/>
        </p:nvSpPr>
        <p:spPr>
          <a:xfrm>
            <a:off x="4974336" y="27797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6-month forecast with 92% confidence interval</a:t>
            </a:r>
          </a:p>
        </p:txBody>
      </p:sp>
      <p:sp>
        <p:nvSpPr>
          <p:cNvPr id="72" name="Text 67"/>
          <p:cNvSpPr/>
          <p:nvPr/>
        </p:nvSpPr>
        <p:spPr>
          <a:xfrm>
            <a:off x="777240" y="38221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💡  Key Insight Drivers (SHAP Analysis)</a:t>
            </a:r>
            <a:endParaRPr lang="en-US" sz="1200" dirty="0"/>
          </a:p>
        </p:txBody>
      </p:sp>
      <p:pic>
        <p:nvPicPr>
          <p:cNvPr id="7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4206240"/>
            <a:ext cx="274320" cy="274320"/>
          </a:xfrm>
          <a:prstGeom prst="rect">
            <a:avLst/>
          </a:prstGeom>
        </p:spPr>
      </p:pic>
      <p:sp>
        <p:nvSpPr>
          <p:cNvPr id="75" name="Text 69"/>
          <p:cNvSpPr/>
          <p:nvPr/>
        </p:nvSpPr>
        <p:spPr>
          <a:xfrm>
            <a:off x="1188720" y="41879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Sentiment Mean</a:t>
            </a:r>
          </a:p>
        </p:txBody>
      </p:sp>
      <p:sp>
        <p:nvSpPr>
          <p:cNvPr id="76" name="Text 70"/>
          <p:cNvSpPr/>
          <p:nvPr/>
        </p:nvSpPr>
        <p:spPr>
          <a:xfrm>
            <a:off x="1188720" y="43891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0.222</a:t>
            </a:r>
            <a:endParaRPr lang="en-US" sz="1300" dirty="0"/>
          </a:p>
        </p:txBody>
      </p:sp>
      <p:pic>
        <p:nvPicPr>
          <p:cNvPr id="8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5888" y="4206240"/>
            <a:ext cx="274320" cy="274320"/>
          </a:xfrm>
          <a:prstGeom prst="rect">
            <a:avLst/>
          </a:prstGeom>
        </p:spPr>
      </p:pic>
      <p:sp>
        <p:nvSpPr>
          <p:cNvPr id="81" name="Text 74"/>
          <p:cNvSpPr/>
          <p:nvPr/>
        </p:nvSpPr>
        <p:spPr>
          <a:xfrm>
            <a:off x="4005072" y="41879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Positive Review Ratio</a:t>
            </a:r>
          </a:p>
        </p:txBody>
      </p:sp>
      <p:sp>
        <p:nvSpPr>
          <p:cNvPr id="82" name="Text 75"/>
          <p:cNvSpPr/>
          <p:nvPr/>
        </p:nvSpPr>
        <p:spPr>
          <a:xfrm>
            <a:off x="4005072" y="43891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0.159</a:t>
            </a:r>
            <a:endParaRPr lang="en-US" sz="1300" dirty="0"/>
          </a:p>
        </p:txBody>
      </p:sp>
      <p:pic>
        <p:nvPicPr>
          <p:cNvPr id="86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0" y="4206240"/>
            <a:ext cx="274320" cy="274320"/>
          </a:xfrm>
          <a:prstGeom prst="rect">
            <a:avLst/>
          </a:prstGeom>
        </p:spPr>
      </p:pic>
      <p:sp>
        <p:nvSpPr>
          <p:cNvPr id="87" name="Text 79"/>
          <p:cNvSpPr/>
          <p:nvPr/>
        </p:nvSpPr>
        <p:spPr>
          <a:xfrm>
            <a:off x="6821424" y="41879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Review Volume</a:t>
            </a:r>
          </a:p>
        </p:txBody>
      </p:sp>
      <p:sp>
        <p:nvSpPr>
          <p:cNvPr id="88" name="Text 80"/>
          <p:cNvSpPr/>
          <p:nvPr/>
        </p:nvSpPr>
        <p:spPr>
          <a:xfrm>
            <a:off x="6821424" y="43891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0.140</a:t>
            </a:r>
            <a:endParaRPr lang="en-US" sz="13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5FEF24E-6072-2167-6BE2-716D66093CDD}"/>
              </a:ext>
            </a:extLst>
          </p:cNvPr>
          <p:cNvSpPr/>
          <p:nvPr/>
        </p:nvSpPr>
        <p:spPr>
          <a:xfrm>
            <a:off x="800101" y="1531619"/>
            <a:ext cx="1142997" cy="841249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C6E9787-EB07-92ED-47EE-76473AAE9429}"/>
              </a:ext>
            </a:extLst>
          </p:cNvPr>
          <p:cNvSpPr/>
          <p:nvPr/>
        </p:nvSpPr>
        <p:spPr>
          <a:xfrm>
            <a:off x="2075691" y="1536191"/>
            <a:ext cx="1142997" cy="841249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F1073A4-EEE1-AAA8-173E-B16B3D42D149}"/>
              </a:ext>
            </a:extLst>
          </p:cNvPr>
          <p:cNvSpPr/>
          <p:nvPr/>
        </p:nvSpPr>
        <p:spPr>
          <a:xfrm>
            <a:off x="3335346" y="1536190"/>
            <a:ext cx="1142997" cy="841249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23" name="Image 3" descr="preencoded.png">
            <a:extLst>
              <a:ext uri="{FF2B5EF4-FFF2-40B4-BE49-F238E27FC236}">
                <a16:creationId xmlns:a16="http://schemas.microsoft.com/office/drawing/2014/main" id="{AB0D2110-3217-2FD0-CEA4-FBCBFB2B2E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060704"/>
            <a:ext cx="201168" cy="201168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C1C005E3-F86A-8BA4-D6FD-CC69259C6399}"/>
              </a:ext>
            </a:extLst>
          </p:cNvPr>
          <p:cNvSpPr/>
          <p:nvPr/>
        </p:nvSpPr>
        <p:spPr>
          <a:xfrm>
            <a:off x="4990407" y="1549907"/>
            <a:ext cx="1142997" cy="841249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9F7198D9-4881-E408-2881-D17A0337A3F9}"/>
              </a:ext>
            </a:extLst>
          </p:cNvPr>
          <p:cNvSpPr/>
          <p:nvPr/>
        </p:nvSpPr>
        <p:spPr>
          <a:xfrm>
            <a:off x="6288027" y="1551431"/>
            <a:ext cx="1142997" cy="841249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7ADBA88F-F390-F9BD-45F2-07E213048172}"/>
              </a:ext>
            </a:extLst>
          </p:cNvPr>
          <p:cNvSpPr/>
          <p:nvPr/>
        </p:nvSpPr>
        <p:spPr>
          <a:xfrm>
            <a:off x="7577331" y="1549922"/>
            <a:ext cx="1142997" cy="841249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93" name="Text 17">
            <a:extLst>
              <a:ext uri="{FF2B5EF4-FFF2-40B4-BE49-F238E27FC236}">
                <a16:creationId xmlns:a16="http://schemas.microsoft.com/office/drawing/2014/main" id="{7AC000C5-3AA7-72EB-6E5F-160F8B532557}"/>
              </a:ext>
            </a:extLst>
          </p:cNvPr>
          <p:cNvSpPr/>
          <p:nvPr/>
        </p:nvSpPr>
        <p:spPr>
          <a:xfrm>
            <a:off x="4715263" y="3273552"/>
            <a:ext cx="16001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2C55E"/>
                </a:solidFill>
              </a:rPr>
              <a:t>Performance : 4.3/5 rating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201168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Shape 2"/>
          <p:cNvSpPr/>
          <p:nvPr/>
        </p:nvSpPr>
        <p:spPr>
          <a:xfrm>
            <a:off x="301752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" name="Shape 3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Shape 4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Shape 5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Shape 6"/>
          <p:cNvSpPr/>
          <p:nvPr/>
        </p:nvSpPr>
        <p:spPr>
          <a:xfrm>
            <a:off x="704088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Shape 7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Shape 8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Shape 9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" name="Shape 10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" name="Shape 11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Shape 1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" name="Shape 13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6" name="Shape 14"/>
          <p:cNvSpPr/>
          <p:nvPr/>
        </p:nvSpPr>
        <p:spPr>
          <a:xfrm>
            <a:off x="640080" y="292608"/>
            <a:ext cx="365760" cy="365760"/>
          </a:xfrm>
          <a:prstGeom prst="lin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29184"/>
            <a:ext cx="256032" cy="25603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09728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Results, Impact &amp; Investor Value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097280" y="5669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System validation, business impact, and competitive advantages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77240" y="9784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</a:rPr>
              <a:t>✓  System Validation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1362456"/>
            <a:ext cx="219456" cy="219456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133856" y="13441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</a:rPr>
              <a:t>Café managers rated explanations 4.3/5 for decision usefulness</a:t>
            </a:r>
          </a:p>
        </p:txBody>
      </p:sp>
      <p:sp>
        <p:nvSpPr>
          <p:cNvPr id="26" name="Text 22"/>
          <p:cNvSpPr/>
          <p:nvPr/>
        </p:nvSpPr>
        <p:spPr>
          <a:xfrm>
            <a:off x="3621024" y="1344168"/>
            <a:ext cx="64922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chemeClr val="bg1"/>
                </a:solidFill>
              </a:rPr>
              <a:t>4.3/5</a:t>
            </a:r>
            <a:endParaRPr lang="en-US" sz="1000" dirty="0">
              <a:solidFill>
                <a:schemeClr val="bg1"/>
              </a:solidFill>
            </a:endParaRPr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" y="1764792"/>
            <a:ext cx="219456" cy="219456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1133856" y="17465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</a:rPr>
              <a:t>Narrative generation &lt;200ms latency (CPU)</a:t>
            </a:r>
          </a:p>
        </p:txBody>
      </p:sp>
      <p:sp>
        <p:nvSpPr>
          <p:cNvPr id="30" name="Text 25"/>
          <p:cNvSpPr/>
          <p:nvPr/>
        </p:nvSpPr>
        <p:spPr>
          <a:xfrm>
            <a:off x="3621025" y="1746504"/>
            <a:ext cx="649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chemeClr val="bg1"/>
                </a:solidFill>
              </a:rPr>
              <a:t>&lt;200ms</a:t>
            </a:r>
            <a:endParaRPr lang="en-US" sz="1000" dirty="0">
              <a:solidFill>
                <a:schemeClr val="bg1"/>
              </a:solidFill>
            </a:endParaRPr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" y="2167128"/>
            <a:ext cx="219456" cy="219456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133856" y="21488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</a:rPr>
              <a:t>Template fallback &lt;50ms latency</a:t>
            </a:r>
          </a:p>
        </p:txBody>
      </p:sp>
      <p:sp>
        <p:nvSpPr>
          <p:cNvPr id="34" name="Text 28"/>
          <p:cNvSpPr/>
          <p:nvPr/>
        </p:nvSpPr>
        <p:spPr>
          <a:xfrm>
            <a:off x="3621024" y="2148840"/>
            <a:ext cx="64922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chemeClr val="bg1"/>
                </a:solidFill>
              </a:rPr>
              <a:t>&lt;50ms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6" name="Text 30"/>
          <p:cNvSpPr/>
          <p:nvPr/>
        </p:nvSpPr>
        <p:spPr>
          <a:xfrm>
            <a:off x="4892040" y="9784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</a:rPr>
              <a:t>🎯  Business Impact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5192" y="1408176"/>
            <a:ext cx="219456" cy="219456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5239512" y="135331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chemeClr val="bg1"/>
                </a:solidFill>
              </a:rPr>
              <a:t>High-demand locations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0" name="Text 33"/>
          <p:cNvSpPr/>
          <p:nvPr/>
        </p:nvSpPr>
        <p:spPr>
          <a:xfrm>
            <a:off x="5239512" y="15636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chemeClr val="bg1"/>
                </a:solidFill>
              </a:rPr>
              <a:t>Identify low-competition areas</a:t>
            </a:r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31152" y="1408176"/>
            <a:ext cx="219456" cy="219456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7205472" y="135331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chemeClr val="bg1"/>
                </a:solidFill>
              </a:rPr>
              <a:t>Emerging trends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4" name="Text 36"/>
          <p:cNvSpPr/>
          <p:nvPr/>
        </p:nvSpPr>
        <p:spPr>
          <a:xfrm>
            <a:off x="7205472" y="15636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chemeClr val="bg1"/>
                </a:solidFill>
              </a:rPr>
              <a:t>Matcha, cold brew spotting</a:t>
            </a:r>
          </a:p>
        </p:txBody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5192" y="2029968"/>
            <a:ext cx="219456" cy="219456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5239512" y="19751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chemeClr val="bg1"/>
                </a:solidFill>
              </a:rPr>
              <a:t>Risk reduction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8" name="Text 39"/>
          <p:cNvSpPr/>
          <p:nvPr/>
        </p:nvSpPr>
        <p:spPr>
          <a:xfrm>
            <a:off x="5239512" y="218541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chemeClr val="bg1"/>
                </a:solidFill>
              </a:rPr>
              <a:t>Site selection security</a:t>
            </a:r>
          </a:p>
        </p:txBody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31152" y="2029968"/>
            <a:ext cx="219456" cy="219456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7205472" y="19751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chemeClr val="bg1"/>
                </a:solidFill>
              </a:rPr>
              <a:t>Consultant independence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52" name="Text 42"/>
          <p:cNvSpPr/>
          <p:nvPr/>
        </p:nvSpPr>
        <p:spPr>
          <a:xfrm>
            <a:off x="7205472" y="218541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chemeClr val="bg1"/>
                </a:solidFill>
              </a:rPr>
              <a:t>Reduce dependence</a:t>
            </a:r>
          </a:p>
        </p:txBody>
      </p:sp>
      <p:sp>
        <p:nvSpPr>
          <p:cNvPr id="54" name="Text 44"/>
          <p:cNvSpPr/>
          <p:nvPr/>
        </p:nvSpPr>
        <p:spPr>
          <a:xfrm>
            <a:off x="768096" y="28712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🏆  Competitive Advantage</a:t>
            </a:r>
            <a:endParaRPr lang="en-US" sz="1200" dirty="0"/>
          </a:p>
        </p:txBody>
      </p:sp>
      <p:pic>
        <p:nvPicPr>
          <p:cNvPr id="56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8680" y="3218688"/>
            <a:ext cx="301752" cy="301752"/>
          </a:xfrm>
          <a:prstGeom prst="rect">
            <a:avLst/>
          </a:prstGeom>
        </p:spPr>
      </p:pic>
      <p:sp>
        <p:nvSpPr>
          <p:cNvPr id="57" name="Text 46"/>
          <p:cNvSpPr/>
          <p:nvPr/>
        </p:nvSpPr>
        <p:spPr>
          <a:xfrm>
            <a:off x="1234440" y="318211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1"/>
                </a:solidFill>
              </a:rPr>
              <a:t>Explainable AI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8" name="Text 47"/>
          <p:cNvSpPr/>
          <p:nvPr/>
        </p:nvSpPr>
        <p:spPr>
          <a:xfrm>
            <a:off x="1234440" y="338328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</a:rPr>
              <a:t>SHAP transparent decisions</a:t>
            </a:r>
          </a:p>
        </p:txBody>
      </p:sp>
      <p:pic>
        <p:nvPicPr>
          <p:cNvPr id="60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85032" y="3218688"/>
            <a:ext cx="301752" cy="301752"/>
          </a:xfrm>
          <a:prstGeom prst="rect">
            <a:avLst/>
          </a:prstGeom>
        </p:spPr>
      </p:pic>
      <p:sp>
        <p:nvSpPr>
          <p:cNvPr id="61" name="Text 49"/>
          <p:cNvSpPr/>
          <p:nvPr/>
        </p:nvSpPr>
        <p:spPr>
          <a:xfrm>
            <a:off x="4050792" y="318211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1"/>
                </a:solidFill>
              </a:rPr>
              <a:t>Agent-based monitoring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62" name="Text 50"/>
          <p:cNvSpPr/>
          <p:nvPr/>
        </p:nvSpPr>
        <p:spPr>
          <a:xfrm>
            <a:off x="4050792" y="338328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</a:rPr>
              <a:t>Real-time insights</a:t>
            </a:r>
          </a:p>
        </p:txBody>
      </p:sp>
      <p:pic>
        <p:nvPicPr>
          <p:cNvPr id="64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01384" y="3218688"/>
            <a:ext cx="301752" cy="301752"/>
          </a:xfrm>
          <a:prstGeom prst="rect">
            <a:avLst/>
          </a:prstGeom>
        </p:spPr>
      </p:pic>
      <p:sp>
        <p:nvSpPr>
          <p:cNvPr id="65" name="Text 52"/>
          <p:cNvSpPr/>
          <p:nvPr/>
        </p:nvSpPr>
        <p:spPr>
          <a:xfrm>
            <a:off x="6867144" y="318211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1"/>
                </a:solidFill>
              </a:rPr>
              <a:t>Café-specific metrics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66" name="Text 53"/>
          <p:cNvSpPr/>
          <p:nvPr/>
        </p:nvSpPr>
        <p:spPr>
          <a:xfrm>
            <a:off x="6867144" y="338328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</a:rPr>
              <a:t>Domain precision</a:t>
            </a:r>
          </a:p>
        </p:txBody>
      </p:sp>
      <p:pic>
        <p:nvPicPr>
          <p:cNvPr id="68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7240" y="4041648"/>
            <a:ext cx="365760" cy="365760"/>
          </a:xfrm>
          <a:prstGeom prst="rect">
            <a:avLst/>
          </a:prstGeom>
        </p:spPr>
      </p:pic>
      <p:sp>
        <p:nvSpPr>
          <p:cNvPr id="69" name="Text 55"/>
          <p:cNvSpPr/>
          <p:nvPr/>
        </p:nvSpPr>
        <p:spPr>
          <a:xfrm>
            <a:off x="1280160" y="393192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TrendHive transforms 563K+ data points into actionable investment decisions</a:t>
            </a:r>
            <a:endParaRPr lang="en-US" sz="1200" dirty="0"/>
          </a:p>
        </p:txBody>
      </p:sp>
      <p:sp>
        <p:nvSpPr>
          <p:cNvPr id="70" name="Text 56"/>
          <p:cNvSpPr/>
          <p:nvPr/>
        </p:nvSpPr>
        <p:spPr>
          <a:xfrm>
            <a:off x="1280160" y="427939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</a:rPr>
              <a:t>Enables SMEs to compete in a $3.2B market with enterprise-level intelligence</a:t>
            </a:r>
          </a:p>
        </p:txBody>
      </p:sp>
      <p:sp>
        <p:nvSpPr>
          <p:cNvPr id="72" name="Text 58"/>
          <p:cNvSpPr/>
          <p:nvPr/>
        </p:nvSpPr>
        <p:spPr>
          <a:xfrm>
            <a:off x="6720840" y="402336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563K+</a:t>
            </a:r>
            <a:endParaRPr lang="en-US" sz="1800" dirty="0"/>
          </a:p>
        </p:txBody>
      </p:sp>
      <p:sp>
        <p:nvSpPr>
          <p:cNvPr id="73" name="Text 59"/>
          <p:cNvSpPr/>
          <p:nvPr/>
        </p:nvSpPr>
        <p:spPr>
          <a:xfrm>
            <a:off x="6720840" y="442569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chemeClr val="bg1"/>
                </a:solidFill>
              </a:rPr>
              <a:t>Data Points</a:t>
            </a:r>
          </a:p>
        </p:txBody>
      </p:sp>
      <p:sp>
        <p:nvSpPr>
          <p:cNvPr id="75" name="Text 61"/>
          <p:cNvSpPr/>
          <p:nvPr/>
        </p:nvSpPr>
        <p:spPr>
          <a:xfrm>
            <a:off x="7909560" y="402336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$3.2B</a:t>
            </a:r>
            <a:endParaRPr lang="en-US" sz="1800" dirty="0"/>
          </a:p>
        </p:txBody>
      </p:sp>
      <p:sp>
        <p:nvSpPr>
          <p:cNvPr id="76" name="Text 62"/>
          <p:cNvSpPr/>
          <p:nvPr/>
        </p:nvSpPr>
        <p:spPr>
          <a:xfrm>
            <a:off x="7909560" y="442569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chemeClr val="bg1"/>
                </a:solidFill>
              </a:rPr>
              <a:t>Market Size</a:t>
            </a:r>
          </a:p>
        </p:txBody>
      </p:sp>
      <p:sp>
        <p:nvSpPr>
          <p:cNvPr id="77" name="Shape 47">
            <a:extLst>
              <a:ext uri="{FF2B5EF4-FFF2-40B4-BE49-F238E27FC236}">
                <a16:creationId xmlns:a16="http://schemas.microsoft.com/office/drawing/2014/main" id="{47FB4EBC-92E0-E50A-B37C-B00ECE952991}"/>
              </a:ext>
            </a:extLst>
          </p:cNvPr>
          <p:cNvSpPr/>
          <p:nvPr/>
        </p:nvSpPr>
        <p:spPr>
          <a:xfrm>
            <a:off x="4626864" y="914402"/>
            <a:ext cx="9144" cy="1920238"/>
          </a:xfrm>
          <a:prstGeom prst="line">
            <a:avLst/>
          </a:prstGeom>
          <a:solidFill>
            <a:srgbClr val="3B82F6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201168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Shape 2"/>
          <p:cNvSpPr/>
          <p:nvPr/>
        </p:nvSpPr>
        <p:spPr>
          <a:xfrm>
            <a:off x="301752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" name="Shape 3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6" name="Shape 4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Shape 5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Shape 6"/>
          <p:cNvSpPr/>
          <p:nvPr/>
        </p:nvSpPr>
        <p:spPr>
          <a:xfrm>
            <a:off x="704088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Shape 7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Shape 8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Shape 9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" name="Shape 10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" name="Shape 11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Shape 1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 dirty="0"/>
          </a:p>
        </p:txBody>
      </p:sp>
      <p:sp>
        <p:nvSpPr>
          <p:cNvPr id="15" name="Shape 13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FFFFFF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6" name="Shape 14"/>
          <p:cNvSpPr/>
          <p:nvPr/>
        </p:nvSpPr>
        <p:spPr>
          <a:xfrm>
            <a:off x="-914400" y="2286000"/>
            <a:ext cx="3657600" cy="3657600"/>
          </a:xfrm>
          <a:prstGeom prst="line">
            <a:avLst/>
          </a:prstGeom>
          <a:solidFill>
            <a:srgbClr val="3B82F6">
              <a:alpha val="7000"/>
            </a:srgbClr>
          </a:solidFill>
          <a:ln w="12700">
            <a:solidFill>
              <a:srgbClr val="3B82F6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7" name="Shape 15"/>
          <p:cNvSpPr/>
          <p:nvPr/>
        </p:nvSpPr>
        <p:spPr>
          <a:xfrm>
            <a:off x="6858000" y="-914400"/>
            <a:ext cx="3657600" cy="3657600"/>
          </a:xfrm>
          <a:prstGeom prst="line">
            <a:avLst/>
          </a:prstGeom>
          <a:solidFill>
            <a:srgbClr val="3B82F6">
              <a:alpha val="7000"/>
            </a:srgbClr>
          </a:solidFill>
          <a:ln w="12700">
            <a:solidFill>
              <a:srgbClr val="3B82F6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8" name="Shape 16"/>
          <p:cNvSpPr/>
          <p:nvPr/>
        </p:nvSpPr>
        <p:spPr>
          <a:xfrm>
            <a:off x="3474720" y="822960"/>
            <a:ext cx="502920" cy="502920"/>
          </a:xfrm>
          <a:prstGeom prst="line">
            <a:avLst>
              <a:gd name="adj" fmla="val 18182"/>
            </a:avLst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6B73F18-2EA4-7805-D3BA-681E3B6701F8}"/>
              </a:ext>
            </a:extLst>
          </p:cNvPr>
          <p:cNvSpPr txBox="1"/>
          <p:nvPr/>
        </p:nvSpPr>
        <p:spPr>
          <a:xfrm>
            <a:off x="3490004" y="2194561"/>
            <a:ext cx="19405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E" sz="3200" b="1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1D381E-4C1C-BAC9-4600-256FC8B668DB}"/>
              </a:ext>
            </a:extLst>
          </p:cNvPr>
          <p:cNvSpPr txBox="1"/>
          <p:nvPr/>
        </p:nvSpPr>
        <p:spPr>
          <a:xfrm>
            <a:off x="4003879" y="2775317"/>
            <a:ext cx="885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E" sz="1200" dirty="0">
                <a:solidFill>
                  <a:schemeClr val="bg1"/>
                </a:solidFill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156</TotalTime>
  <Words>663</Words>
  <Application>Microsoft Macintosh PowerPoint</Application>
  <PresentationFormat>On-screen Show (16:9)</PresentationFormat>
  <Paragraphs>165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TrendHive – AI Market Intelligence</dc:title>
  <dc:subject>PptxGenJS Presentation</dc:subject>
  <dc:creator>PptxGenJS</dc:creator>
  <cp:lastModifiedBy>Arya Sunil</cp:lastModifiedBy>
  <cp:revision>3</cp:revision>
  <dcterms:created xsi:type="dcterms:W3CDTF">2026-04-13T16:26:31Z</dcterms:created>
  <dcterms:modified xsi:type="dcterms:W3CDTF">2026-04-13T19:05:35Z</dcterms:modified>
</cp:coreProperties>
</file>